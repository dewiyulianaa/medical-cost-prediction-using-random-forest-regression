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eague Spartan" charset="1" panose="00000800000000000000"/>
      <p:regular r:id="rId19"/>
    </p:embeddedFont>
    <p:embeddedFont>
      <p:font typeface="Aileron" charset="1" panose="00000500000000000000"/>
      <p:regular r:id="rId20"/>
    </p:embeddedFont>
    <p:embeddedFont>
      <p:font typeface="Montserrat" charset="1" panose="00000500000000000000"/>
      <p:regular r:id="rId21"/>
    </p:embeddedFont>
    <p:embeddedFont>
      <p:font typeface="Amsterdam Four" charset="1" panose="02000500000000000000"/>
      <p:regular r:id="rId22"/>
    </p:embeddedFont>
    <p:embeddedFont>
      <p:font typeface="Arimo Bold" charset="1" panose="020B0704020202020204"/>
      <p:regular r:id="rId23"/>
    </p:embeddedFont>
    <p:embeddedFont>
      <p:font typeface="Montserrat Classic Bold" charset="1" panose="00000800000000000000"/>
      <p:regular r:id="rId24"/>
    </p:embeddedFont>
    <p:embeddedFont>
      <p:font typeface="Garet Bold" charset="1" panose="00000000000000000000"/>
      <p:regular r:id="rId25"/>
    </p:embeddedFont>
    <p:embeddedFont>
      <p:font typeface="Open Sans" charset="1" panose="020B0606030504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88725" y="6388211"/>
            <a:ext cx="4531428" cy="888842"/>
            <a:chOff x="0" y="0"/>
            <a:chExt cx="19553350" cy="3835400"/>
          </a:xfrm>
        </p:grpSpPr>
        <p:sp>
          <p:nvSpPr>
            <p:cNvPr name="Freeform 3" id="3"/>
            <p:cNvSpPr/>
            <p:nvPr/>
          </p:nvSpPr>
          <p:spPr>
            <a:xfrm flipH="false" flipV="false" rot="0">
              <a:off x="-12700" y="-12700"/>
              <a:ext cx="19578751" cy="3860800"/>
            </a:xfrm>
            <a:custGeom>
              <a:avLst/>
              <a:gdLst/>
              <a:ahLst/>
              <a:cxnLst/>
              <a:rect r="r" b="b" t="t" l="l"/>
              <a:pathLst>
                <a:path h="3860800" w="19578751">
                  <a:moveTo>
                    <a:pt x="18716420" y="0"/>
                  </a:moveTo>
                  <a:lnTo>
                    <a:pt x="862330" y="0"/>
                  </a:lnTo>
                  <a:cubicBezTo>
                    <a:pt x="389890" y="0"/>
                    <a:pt x="0" y="389890"/>
                    <a:pt x="0" y="862330"/>
                  </a:cubicBezTo>
                  <a:lnTo>
                    <a:pt x="0" y="2998470"/>
                  </a:lnTo>
                  <a:cubicBezTo>
                    <a:pt x="0" y="3470910"/>
                    <a:pt x="389890" y="3860800"/>
                    <a:pt x="862330" y="3860800"/>
                  </a:cubicBezTo>
                  <a:lnTo>
                    <a:pt x="18716420" y="3860800"/>
                  </a:lnTo>
                  <a:cubicBezTo>
                    <a:pt x="19188860" y="3860800"/>
                    <a:pt x="19578751" y="3470910"/>
                    <a:pt x="19578751" y="2998470"/>
                  </a:cubicBezTo>
                  <a:lnTo>
                    <a:pt x="19578751" y="862330"/>
                  </a:lnTo>
                  <a:cubicBezTo>
                    <a:pt x="19578751" y="389890"/>
                    <a:pt x="19188860" y="0"/>
                    <a:pt x="18716420" y="0"/>
                  </a:cubicBezTo>
                  <a:close/>
                  <a:moveTo>
                    <a:pt x="19388251" y="927100"/>
                  </a:moveTo>
                  <a:lnTo>
                    <a:pt x="19388251" y="2998470"/>
                  </a:lnTo>
                  <a:cubicBezTo>
                    <a:pt x="19388251" y="3365500"/>
                    <a:pt x="19083451" y="3670300"/>
                    <a:pt x="18716420" y="3670300"/>
                  </a:cubicBezTo>
                  <a:lnTo>
                    <a:pt x="862330" y="3670300"/>
                  </a:lnTo>
                  <a:cubicBezTo>
                    <a:pt x="495300" y="3670300"/>
                    <a:pt x="190500" y="3365500"/>
                    <a:pt x="190500" y="2998470"/>
                  </a:cubicBezTo>
                  <a:lnTo>
                    <a:pt x="190500" y="862330"/>
                  </a:lnTo>
                  <a:cubicBezTo>
                    <a:pt x="190500" y="495300"/>
                    <a:pt x="495300" y="190500"/>
                    <a:pt x="862330" y="190500"/>
                  </a:cubicBezTo>
                  <a:lnTo>
                    <a:pt x="18716420" y="190500"/>
                  </a:lnTo>
                  <a:cubicBezTo>
                    <a:pt x="19083451" y="190500"/>
                    <a:pt x="19388251" y="495300"/>
                    <a:pt x="19388251" y="862330"/>
                  </a:cubicBezTo>
                  <a:lnTo>
                    <a:pt x="19388251" y="927100"/>
                  </a:lnTo>
                  <a:close/>
                </a:path>
              </a:pathLst>
            </a:custGeom>
            <a:solidFill>
              <a:srgbClr val="5E17EB"/>
            </a:solidFill>
          </p:spPr>
        </p:sp>
      </p:grpSp>
      <p:sp>
        <p:nvSpPr>
          <p:cNvPr name="Freeform 4" id="4"/>
          <p:cNvSpPr/>
          <p:nvPr/>
        </p:nvSpPr>
        <p:spPr>
          <a:xfrm flipH="false" flipV="false" rot="0">
            <a:off x="1028700" y="1028700"/>
            <a:ext cx="1101154" cy="1291332"/>
          </a:xfrm>
          <a:custGeom>
            <a:avLst/>
            <a:gdLst/>
            <a:ahLst/>
            <a:cxnLst/>
            <a:rect r="r" b="b" t="t" l="l"/>
            <a:pathLst>
              <a:path h="1291332" w="1101154">
                <a:moveTo>
                  <a:pt x="0" y="0"/>
                </a:moveTo>
                <a:lnTo>
                  <a:pt x="1101154" y="0"/>
                </a:lnTo>
                <a:lnTo>
                  <a:pt x="1101154" y="1291332"/>
                </a:lnTo>
                <a:lnTo>
                  <a:pt x="0" y="1291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7966968"/>
            <a:ext cx="1101154" cy="1291332"/>
          </a:xfrm>
          <a:custGeom>
            <a:avLst/>
            <a:gdLst/>
            <a:ahLst/>
            <a:cxnLst/>
            <a:rect r="r" b="b" t="t" l="l"/>
            <a:pathLst>
              <a:path h="1291332" w="1101154">
                <a:moveTo>
                  <a:pt x="0" y="0"/>
                </a:moveTo>
                <a:lnTo>
                  <a:pt x="1101154" y="0"/>
                </a:lnTo>
                <a:lnTo>
                  <a:pt x="1101154" y="1291332"/>
                </a:lnTo>
                <a:lnTo>
                  <a:pt x="0" y="1291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158146" y="7966968"/>
            <a:ext cx="1101154" cy="1291332"/>
          </a:xfrm>
          <a:custGeom>
            <a:avLst/>
            <a:gdLst/>
            <a:ahLst/>
            <a:cxnLst/>
            <a:rect r="r" b="b" t="t" l="l"/>
            <a:pathLst>
              <a:path h="1291332" w="1101154">
                <a:moveTo>
                  <a:pt x="1101154" y="0"/>
                </a:moveTo>
                <a:lnTo>
                  <a:pt x="0" y="0"/>
                </a:lnTo>
                <a:lnTo>
                  <a:pt x="0" y="1291332"/>
                </a:lnTo>
                <a:lnTo>
                  <a:pt x="1101154" y="1291332"/>
                </a:lnTo>
                <a:lnTo>
                  <a:pt x="110115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6158146" y="1028700"/>
            <a:ext cx="1101154" cy="1291332"/>
          </a:xfrm>
          <a:custGeom>
            <a:avLst/>
            <a:gdLst/>
            <a:ahLst/>
            <a:cxnLst/>
            <a:rect r="r" b="b" t="t" l="l"/>
            <a:pathLst>
              <a:path h="1291332" w="1101154">
                <a:moveTo>
                  <a:pt x="1101154" y="0"/>
                </a:moveTo>
                <a:lnTo>
                  <a:pt x="0" y="0"/>
                </a:lnTo>
                <a:lnTo>
                  <a:pt x="0" y="1291332"/>
                </a:lnTo>
                <a:lnTo>
                  <a:pt x="1101154" y="1291332"/>
                </a:lnTo>
                <a:lnTo>
                  <a:pt x="110115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28700" y="237456"/>
            <a:ext cx="2601717" cy="791244"/>
          </a:xfrm>
          <a:custGeom>
            <a:avLst/>
            <a:gdLst/>
            <a:ahLst/>
            <a:cxnLst/>
            <a:rect r="r" b="b" t="t" l="l"/>
            <a:pathLst>
              <a:path h="791244" w="2601717">
                <a:moveTo>
                  <a:pt x="0" y="0"/>
                </a:moveTo>
                <a:lnTo>
                  <a:pt x="2601717" y="0"/>
                </a:lnTo>
                <a:lnTo>
                  <a:pt x="2601717" y="791244"/>
                </a:lnTo>
                <a:lnTo>
                  <a:pt x="0" y="791244"/>
                </a:lnTo>
                <a:lnTo>
                  <a:pt x="0" y="0"/>
                </a:lnTo>
                <a:close/>
              </a:path>
            </a:pathLst>
          </a:custGeom>
          <a:blipFill>
            <a:blip r:embed="rId4"/>
            <a:stretch>
              <a:fillRect l="0" t="0" r="0" b="0"/>
            </a:stretch>
          </a:blipFill>
        </p:spPr>
      </p:sp>
      <p:sp>
        <p:nvSpPr>
          <p:cNvPr name="TextBox 9" id="9"/>
          <p:cNvSpPr txBox="true"/>
          <p:nvPr/>
        </p:nvSpPr>
        <p:spPr>
          <a:xfrm rot="0">
            <a:off x="2873683" y="4043726"/>
            <a:ext cx="11846830" cy="1934121"/>
          </a:xfrm>
          <a:prstGeom prst="rect">
            <a:avLst/>
          </a:prstGeom>
        </p:spPr>
        <p:txBody>
          <a:bodyPr anchor="t" rtlCol="false" tIns="0" lIns="0" bIns="0" rIns="0">
            <a:spAutoFit/>
          </a:bodyPr>
          <a:lstStyle/>
          <a:p>
            <a:pPr algn="ctr">
              <a:lnSpc>
                <a:spcPts val="7418"/>
              </a:lnSpc>
            </a:pPr>
            <a:r>
              <a:rPr lang="en-US" b="true" sz="7418">
                <a:solidFill>
                  <a:srgbClr val="000000"/>
                </a:solidFill>
                <a:latin typeface="League Spartan"/>
                <a:ea typeface="League Spartan"/>
                <a:cs typeface="League Spartan"/>
                <a:sym typeface="League Spartan"/>
              </a:rPr>
              <a:t>USING RANDOM FOREST REGRESSION</a:t>
            </a:r>
          </a:p>
        </p:txBody>
      </p:sp>
      <p:sp>
        <p:nvSpPr>
          <p:cNvPr name="TextBox 10" id="10"/>
          <p:cNvSpPr txBox="true"/>
          <p:nvPr/>
        </p:nvSpPr>
        <p:spPr>
          <a:xfrm rot="0">
            <a:off x="7063299" y="6603559"/>
            <a:ext cx="4182280" cy="410522"/>
          </a:xfrm>
          <a:prstGeom prst="rect">
            <a:avLst/>
          </a:prstGeom>
        </p:spPr>
        <p:txBody>
          <a:bodyPr anchor="t" rtlCol="false" tIns="0" lIns="0" bIns="0" rIns="0">
            <a:spAutoFit/>
          </a:bodyPr>
          <a:lstStyle/>
          <a:p>
            <a:pPr algn="ctr">
              <a:lnSpc>
                <a:spcPts val="3334"/>
              </a:lnSpc>
            </a:pPr>
            <a:r>
              <a:rPr lang="en-US" sz="2381" spc="357">
                <a:solidFill>
                  <a:srgbClr val="000000"/>
                </a:solidFill>
                <a:latin typeface="Aileron"/>
                <a:ea typeface="Aileron"/>
                <a:cs typeface="Aileron"/>
                <a:sym typeface="Aileron"/>
              </a:rPr>
              <a:t>DEWI YULIANA</a:t>
            </a:r>
          </a:p>
        </p:txBody>
      </p:sp>
      <p:sp>
        <p:nvSpPr>
          <p:cNvPr name="TextBox 11" id="11"/>
          <p:cNvSpPr txBox="true"/>
          <p:nvPr/>
        </p:nvSpPr>
        <p:spPr>
          <a:xfrm rot="0">
            <a:off x="2129854" y="2929906"/>
            <a:ext cx="13753802" cy="980470"/>
          </a:xfrm>
          <a:prstGeom prst="rect">
            <a:avLst/>
          </a:prstGeom>
        </p:spPr>
        <p:txBody>
          <a:bodyPr anchor="t" rtlCol="false" tIns="0" lIns="0" bIns="0" rIns="0">
            <a:spAutoFit/>
          </a:bodyPr>
          <a:lstStyle/>
          <a:p>
            <a:pPr algn="ctr">
              <a:lnSpc>
                <a:spcPts val="7476"/>
              </a:lnSpc>
              <a:spcBef>
                <a:spcPct val="0"/>
              </a:spcBef>
            </a:pPr>
            <a:r>
              <a:rPr lang="en-US" b="true" sz="7476">
                <a:solidFill>
                  <a:srgbClr val="38B6FF"/>
                </a:solidFill>
                <a:latin typeface="League Spartan"/>
                <a:ea typeface="League Spartan"/>
                <a:cs typeface="League Spartan"/>
                <a:sym typeface="League Spartan"/>
              </a:rPr>
              <a:t>MEDICAL COST PREDICTION</a:t>
            </a:r>
          </a:p>
        </p:txBody>
      </p:sp>
      <p:sp>
        <p:nvSpPr>
          <p:cNvPr name="TextBox 12" id="12"/>
          <p:cNvSpPr txBox="true"/>
          <p:nvPr/>
        </p:nvSpPr>
        <p:spPr>
          <a:xfrm rot="0">
            <a:off x="12263376" y="9286875"/>
            <a:ext cx="4445347" cy="212562"/>
          </a:xfrm>
          <a:prstGeom prst="rect">
            <a:avLst/>
          </a:prstGeom>
        </p:spPr>
        <p:txBody>
          <a:bodyPr anchor="t" rtlCol="false" tIns="0" lIns="0" bIns="0" rIns="0">
            <a:spAutoFit/>
          </a:bodyPr>
          <a:lstStyle/>
          <a:p>
            <a:pPr algn="ctr">
              <a:lnSpc>
                <a:spcPts val="1618"/>
              </a:lnSpc>
              <a:spcBef>
                <a:spcPct val="0"/>
              </a:spcBef>
            </a:pPr>
            <a:r>
              <a:rPr lang="en-US" b="true" sz="1618">
                <a:solidFill>
                  <a:srgbClr val="000000"/>
                </a:solidFill>
                <a:latin typeface="League Spartan"/>
                <a:ea typeface="League Spartan"/>
                <a:cs typeface="League Spartan"/>
                <a:sym typeface="League Spartan"/>
              </a:rPr>
              <a:t>DATA SERIES 17.0-AI 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39228" y="0"/>
            <a:ext cx="5748772" cy="10287000"/>
            <a:chOff x="0" y="0"/>
            <a:chExt cx="1069556" cy="1913890"/>
          </a:xfrm>
        </p:grpSpPr>
        <p:sp>
          <p:nvSpPr>
            <p:cNvPr name="Freeform 3" id="3"/>
            <p:cNvSpPr/>
            <p:nvPr/>
          </p:nvSpPr>
          <p:spPr>
            <a:xfrm flipH="false" flipV="false" rot="0">
              <a:off x="0" y="0"/>
              <a:ext cx="1069556" cy="1913890"/>
            </a:xfrm>
            <a:custGeom>
              <a:avLst/>
              <a:gdLst/>
              <a:ahLst/>
              <a:cxnLst/>
              <a:rect r="r" b="b" t="t" l="l"/>
              <a:pathLst>
                <a:path h="1913890" w="1069556">
                  <a:moveTo>
                    <a:pt x="0" y="0"/>
                  </a:moveTo>
                  <a:lnTo>
                    <a:pt x="1069556" y="0"/>
                  </a:lnTo>
                  <a:lnTo>
                    <a:pt x="1069556" y="1913890"/>
                  </a:lnTo>
                  <a:lnTo>
                    <a:pt x="0" y="1913890"/>
                  </a:lnTo>
                  <a:close/>
                </a:path>
              </a:pathLst>
            </a:custGeom>
            <a:solidFill>
              <a:srgbClr val="38B6FF"/>
            </a:solidFill>
          </p:spPr>
        </p:sp>
      </p:grpSp>
      <p:sp>
        <p:nvSpPr>
          <p:cNvPr name="Freeform 4" id="4"/>
          <p:cNvSpPr/>
          <p:nvPr/>
        </p:nvSpPr>
        <p:spPr>
          <a:xfrm flipH="false" flipV="false" rot="0">
            <a:off x="17468536" y="4632178"/>
            <a:ext cx="1638928" cy="1069773"/>
          </a:xfrm>
          <a:custGeom>
            <a:avLst/>
            <a:gdLst/>
            <a:ahLst/>
            <a:cxnLst/>
            <a:rect r="r" b="b" t="t" l="l"/>
            <a:pathLst>
              <a:path h="1069773" w="1638928">
                <a:moveTo>
                  <a:pt x="0" y="0"/>
                </a:moveTo>
                <a:lnTo>
                  <a:pt x="1638928" y="0"/>
                </a:lnTo>
                <a:lnTo>
                  <a:pt x="1638928" y="1069773"/>
                </a:lnTo>
                <a:lnTo>
                  <a:pt x="0" y="1069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845918" y="1481486"/>
            <a:ext cx="6555407" cy="6301385"/>
          </a:xfrm>
          <a:custGeom>
            <a:avLst/>
            <a:gdLst/>
            <a:ahLst/>
            <a:cxnLst/>
            <a:rect r="r" b="b" t="t" l="l"/>
            <a:pathLst>
              <a:path h="6301385" w="6555407">
                <a:moveTo>
                  <a:pt x="0" y="0"/>
                </a:moveTo>
                <a:lnTo>
                  <a:pt x="6555407" y="0"/>
                </a:lnTo>
                <a:lnTo>
                  <a:pt x="6555407" y="6301385"/>
                </a:lnTo>
                <a:lnTo>
                  <a:pt x="0" y="6301385"/>
                </a:lnTo>
                <a:lnTo>
                  <a:pt x="0" y="0"/>
                </a:lnTo>
                <a:close/>
              </a:path>
            </a:pathLst>
          </a:custGeom>
          <a:blipFill>
            <a:blip r:embed="rId4"/>
            <a:stretch>
              <a:fillRect l="0" t="0" r="0" b="0"/>
            </a:stretch>
          </a:blipFill>
        </p:spPr>
      </p:sp>
      <p:sp>
        <p:nvSpPr>
          <p:cNvPr name="TextBox 6" id="6"/>
          <p:cNvSpPr txBox="true"/>
          <p:nvPr/>
        </p:nvSpPr>
        <p:spPr>
          <a:xfrm rot="0">
            <a:off x="6732635" y="8199223"/>
            <a:ext cx="4537872" cy="571661"/>
          </a:xfrm>
          <a:prstGeom prst="rect">
            <a:avLst/>
          </a:prstGeom>
        </p:spPr>
        <p:txBody>
          <a:bodyPr anchor="t" rtlCol="false" tIns="0" lIns="0" bIns="0" rIns="0">
            <a:spAutoFit/>
          </a:bodyPr>
          <a:lstStyle/>
          <a:p>
            <a:pPr algn="r">
              <a:lnSpc>
                <a:spcPts val="4716"/>
              </a:lnSpc>
            </a:pPr>
            <a:r>
              <a:rPr lang="en-US" sz="3368" b="true">
                <a:solidFill>
                  <a:srgbClr val="000000"/>
                </a:solidFill>
                <a:latin typeface="League Spartan"/>
                <a:ea typeface="League Spartan"/>
                <a:cs typeface="League Spartan"/>
                <a:sym typeface="League Spartan"/>
              </a:rPr>
              <a:t>-Dewi Yuliana</a:t>
            </a:r>
          </a:p>
        </p:txBody>
      </p:sp>
      <p:sp>
        <p:nvSpPr>
          <p:cNvPr name="TextBox 7" id="7"/>
          <p:cNvSpPr txBox="true"/>
          <p:nvPr/>
        </p:nvSpPr>
        <p:spPr>
          <a:xfrm rot="0">
            <a:off x="1028700" y="3352980"/>
            <a:ext cx="6012740" cy="1014336"/>
          </a:xfrm>
          <a:prstGeom prst="rect">
            <a:avLst/>
          </a:prstGeom>
        </p:spPr>
        <p:txBody>
          <a:bodyPr anchor="t" rtlCol="false" tIns="0" lIns="0" bIns="0" rIns="0">
            <a:spAutoFit/>
          </a:bodyPr>
          <a:lstStyle/>
          <a:p>
            <a:pPr algn="l">
              <a:lnSpc>
                <a:spcPts val="7684"/>
              </a:lnSpc>
            </a:pPr>
            <a:r>
              <a:rPr lang="en-US" b="true" sz="7684">
                <a:solidFill>
                  <a:srgbClr val="000000"/>
                </a:solidFill>
                <a:latin typeface="League Spartan"/>
                <a:ea typeface="League Spartan"/>
                <a:cs typeface="League Spartan"/>
                <a:sym typeface="League Spartan"/>
              </a:rPr>
              <a:t>ABOUT ME</a:t>
            </a:r>
          </a:p>
        </p:txBody>
      </p:sp>
      <p:sp>
        <p:nvSpPr>
          <p:cNvPr name="TextBox 8" id="8"/>
          <p:cNvSpPr txBox="true"/>
          <p:nvPr/>
        </p:nvSpPr>
        <p:spPr>
          <a:xfrm rot="0">
            <a:off x="697750" y="4490247"/>
            <a:ext cx="8817218" cy="3575626"/>
          </a:xfrm>
          <a:prstGeom prst="rect">
            <a:avLst/>
          </a:prstGeom>
        </p:spPr>
        <p:txBody>
          <a:bodyPr anchor="t" rtlCol="false" tIns="0" lIns="0" bIns="0" rIns="0">
            <a:spAutoFit/>
          </a:bodyPr>
          <a:lstStyle/>
          <a:p>
            <a:pPr algn="just">
              <a:lnSpc>
                <a:spcPts val="3181"/>
              </a:lnSpc>
            </a:pPr>
            <a:r>
              <a:rPr lang="en-US" sz="1988">
                <a:solidFill>
                  <a:srgbClr val="000000"/>
                </a:solidFill>
                <a:latin typeface="Montserrat"/>
                <a:ea typeface="Montserrat"/>
                <a:cs typeface="Montserrat"/>
                <a:sym typeface="Montserrat"/>
              </a:rPr>
              <a:t>"Saya adalah mahasiswa fisika di Universitas Islam Negeri Sunan Gunung Djati Bandung yang mendalami fisika instrumentasi robotik dan metode komputasi. Dengan dasar yang kuat dalam Python, analisis data SQL, dan kecerdasan buatan, saya memiliki ketertarikan untuk menjembatani konsep teoretis dengan aplikasi di dunia nyata. Saya memiliki pengalaman langsung dalam AI, machine learning, dan pemrograman Python, serta terus mencari peluang untuk memperdalam pengetahuan saya di bidang data science."</a:t>
            </a:r>
          </a:p>
          <a:p>
            <a:pPr algn="just">
              <a:lnSpc>
                <a:spcPts val="3181"/>
              </a:lnSpc>
            </a:pPr>
          </a:p>
        </p:txBody>
      </p:sp>
      <p:sp>
        <p:nvSpPr>
          <p:cNvPr name="TextBox 9" id="9"/>
          <p:cNvSpPr txBox="true"/>
          <p:nvPr/>
        </p:nvSpPr>
        <p:spPr>
          <a:xfrm rot="0">
            <a:off x="1028700" y="1595786"/>
            <a:ext cx="5703935" cy="1223794"/>
          </a:xfrm>
          <a:prstGeom prst="rect">
            <a:avLst/>
          </a:prstGeom>
        </p:spPr>
        <p:txBody>
          <a:bodyPr anchor="t" rtlCol="false" tIns="0" lIns="0" bIns="0" rIns="0">
            <a:spAutoFit/>
          </a:bodyPr>
          <a:lstStyle/>
          <a:p>
            <a:pPr algn="l">
              <a:lnSpc>
                <a:spcPts val="9359"/>
              </a:lnSpc>
            </a:pPr>
            <a:r>
              <a:rPr lang="en-US" sz="8829">
                <a:solidFill>
                  <a:srgbClr val="5E17EB"/>
                </a:solidFill>
                <a:latin typeface="Amsterdam Four"/>
                <a:ea typeface="Amsterdam Four"/>
                <a:cs typeface="Amsterdam Four"/>
                <a:sym typeface="Amsterdam Four"/>
              </a:rPr>
              <a:t>Introducing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26894" y="3515011"/>
            <a:ext cx="1995698" cy="2185313"/>
          </a:xfrm>
          <a:custGeom>
            <a:avLst/>
            <a:gdLst/>
            <a:ahLst/>
            <a:cxnLst/>
            <a:rect r="r" b="b" t="t" l="l"/>
            <a:pathLst>
              <a:path h="2185313" w="1995698">
                <a:moveTo>
                  <a:pt x="0" y="0"/>
                </a:moveTo>
                <a:lnTo>
                  <a:pt x="1995698" y="0"/>
                </a:lnTo>
                <a:lnTo>
                  <a:pt x="1995698" y="2185313"/>
                </a:lnTo>
                <a:lnTo>
                  <a:pt x="0" y="2185313"/>
                </a:lnTo>
                <a:lnTo>
                  <a:pt x="0" y="0"/>
                </a:lnTo>
                <a:close/>
              </a:path>
            </a:pathLst>
          </a:custGeom>
          <a:blipFill>
            <a:blip r:embed="rId2"/>
            <a:stretch>
              <a:fillRect l="0" t="0" r="0" b="0"/>
            </a:stretch>
          </a:blipFill>
        </p:spPr>
      </p:sp>
      <p:sp>
        <p:nvSpPr>
          <p:cNvPr name="Freeform 3" id="3"/>
          <p:cNvSpPr/>
          <p:nvPr/>
        </p:nvSpPr>
        <p:spPr>
          <a:xfrm flipH="false" flipV="false" rot="0">
            <a:off x="10415740" y="3262672"/>
            <a:ext cx="3829727" cy="2072840"/>
          </a:xfrm>
          <a:custGeom>
            <a:avLst/>
            <a:gdLst/>
            <a:ahLst/>
            <a:cxnLst/>
            <a:rect r="r" b="b" t="t" l="l"/>
            <a:pathLst>
              <a:path h="2072840" w="3829727">
                <a:moveTo>
                  <a:pt x="0" y="0"/>
                </a:moveTo>
                <a:lnTo>
                  <a:pt x="3829727" y="0"/>
                </a:lnTo>
                <a:lnTo>
                  <a:pt x="3829727" y="2072839"/>
                </a:lnTo>
                <a:lnTo>
                  <a:pt x="0" y="2072839"/>
                </a:lnTo>
                <a:lnTo>
                  <a:pt x="0" y="0"/>
                </a:lnTo>
                <a:close/>
              </a:path>
            </a:pathLst>
          </a:custGeom>
          <a:blipFill>
            <a:blip r:embed="rId3"/>
            <a:stretch>
              <a:fillRect l="0" t="0" r="0" b="0"/>
            </a:stretch>
          </a:blipFill>
        </p:spPr>
      </p:sp>
      <p:sp>
        <p:nvSpPr>
          <p:cNvPr name="Freeform 4" id="4"/>
          <p:cNvSpPr/>
          <p:nvPr/>
        </p:nvSpPr>
        <p:spPr>
          <a:xfrm flipH="false" flipV="false" rot="0">
            <a:off x="5584898" y="3114113"/>
            <a:ext cx="5055646" cy="2987108"/>
          </a:xfrm>
          <a:custGeom>
            <a:avLst/>
            <a:gdLst/>
            <a:ahLst/>
            <a:cxnLst/>
            <a:rect r="r" b="b" t="t" l="l"/>
            <a:pathLst>
              <a:path h="2987108" w="5055646">
                <a:moveTo>
                  <a:pt x="0" y="0"/>
                </a:moveTo>
                <a:lnTo>
                  <a:pt x="5055646" y="0"/>
                </a:lnTo>
                <a:lnTo>
                  <a:pt x="5055646" y="2987109"/>
                </a:lnTo>
                <a:lnTo>
                  <a:pt x="0" y="2987109"/>
                </a:lnTo>
                <a:lnTo>
                  <a:pt x="0" y="0"/>
                </a:lnTo>
                <a:close/>
              </a:path>
            </a:pathLst>
          </a:custGeom>
          <a:blipFill>
            <a:blip r:embed="rId4"/>
            <a:stretch>
              <a:fillRect l="0" t="0" r="0" b="0"/>
            </a:stretch>
          </a:blipFill>
        </p:spPr>
      </p:sp>
      <p:sp>
        <p:nvSpPr>
          <p:cNvPr name="Freeform 5" id="5"/>
          <p:cNvSpPr/>
          <p:nvPr/>
        </p:nvSpPr>
        <p:spPr>
          <a:xfrm flipH="false" flipV="false" rot="0">
            <a:off x="1736480" y="6859228"/>
            <a:ext cx="5176527" cy="2096493"/>
          </a:xfrm>
          <a:custGeom>
            <a:avLst/>
            <a:gdLst/>
            <a:ahLst/>
            <a:cxnLst/>
            <a:rect r="r" b="b" t="t" l="l"/>
            <a:pathLst>
              <a:path h="2096493" w="5176527">
                <a:moveTo>
                  <a:pt x="0" y="0"/>
                </a:moveTo>
                <a:lnTo>
                  <a:pt x="5176527" y="0"/>
                </a:lnTo>
                <a:lnTo>
                  <a:pt x="5176527" y="2096494"/>
                </a:lnTo>
                <a:lnTo>
                  <a:pt x="0" y="2096494"/>
                </a:lnTo>
                <a:lnTo>
                  <a:pt x="0" y="0"/>
                </a:lnTo>
                <a:close/>
              </a:path>
            </a:pathLst>
          </a:custGeom>
          <a:blipFill>
            <a:blip r:embed="rId5"/>
            <a:stretch>
              <a:fillRect l="0" t="0" r="0" b="0"/>
            </a:stretch>
          </a:blipFill>
        </p:spPr>
      </p:sp>
      <p:sp>
        <p:nvSpPr>
          <p:cNvPr name="Freeform 6" id="6"/>
          <p:cNvSpPr/>
          <p:nvPr/>
        </p:nvSpPr>
        <p:spPr>
          <a:xfrm flipH="false" flipV="false" rot="0">
            <a:off x="7193798" y="7287956"/>
            <a:ext cx="5520782" cy="1566522"/>
          </a:xfrm>
          <a:custGeom>
            <a:avLst/>
            <a:gdLst/>
            <a:ahLst/>
            <a:cxnLst/>
            <a:rect r="r" b="b" t="t" l="l"/>
            <a:pathLst>
              <a:path h="1566522" w="5520782">
                <a:moveTo>
                  <a:pt x="0" y="0"/>
                </a:moveTo>
                <a:lnTo>
                  <a:pt x="5520781" y="0"/>
                </a:lnTo>
                <a:lnTo>
                  <a:pt x="5520781" y="1566522"/>
                </a:lnTo>
                <a:lnTo>
                  <a:pt x="0" y="1566522"/>
                </a:lnTo>
                <a:lnTo>
                  <a:pt x="0" y="0"/>
                </a:lnTo>
                <a:close/>
              </a:path>
            </a:pathLst>
          </a:custGeom>
          <a:blipFill>
            <a:blip r:embed="rId6"/>
            <a:stretch>
              <a:fillRect l="0" t="0" r="0" b="0"/>
            </a:stretch>
          </a:blipFill>
        </p:spPr>
      </p:sp>
      <p:sp>
        <p:nvSpPr>
          <p:cNvPr name="Freeform 7" id="7"/>
          <p:cNvSpPr/>
          <p:nvPr/>
        </p:nvSpPr>
        <p:spPr>
          <a:xfrm flipH="false" flipV="false" rot="0">
            <a:off x="13433311" y="6859228"/>
            <a:ext cx="3413164" cy="1552989"/>
          </a:xfrm>
          <a:custGeom>
            <a:avLst/>
            <a:gdLst/>
            <a:ahLst/>
            <a:cxnLst/>
            <a:rect r="r" b="b" t="t" l="l"/>
            <a:pathLst>
              <a:path h="1552989" w="3413164">
                <a:moveTo>
                  <a:pt x="0" y="0"/>
                </a:moveTo>
                <a:lnTo>
                  <a:pt x="3413163" y="0"/>
                </a:lnTo>
                <a:lnTo>
                  <a:pt x="3413163" y="1552990"/>
                </a:lnTo>
                <a:lnTo>
                  <a:pt x="0" y="1552990"/>
                </a:lnTo>
                <a:lnTo>
                  <a:pt x="0" y="0"/>
                </a:lnTo>
                <a:close/>
              </a:path>
            </a:pathLst>
          </a:custGeom>
          <a:blipFill>
            <a:blip r:embed="rId7"/>
            <a:stretch>
              <a:fillRect l="0" t="0" r="0" b="0"/>
            </a:stretch>
          </a:blipFill>
        </p:spPr>
      </p:sp>
      <p:sp>
        <p:nvSpPr>
          <p:cNvPr name="TextBox 8" id="8"/>
          <p:cNvSpPr txBox="true"/>
          <p:nvPr/>
        </p:nvSpPr>
        <p:spPr>
          <a:xfrm rot="0">
            <a:off x="6365146" y="847764"/>
            <a:ext cx="5557708" cy="847124"/>
          </a:xfrm>
          <a:prstGeom prst="rect">
            <a:avLst/>
          </a:prstGeom>
        </p:spPr>
        <p:txBody>
          <a:bodyPr anchor="t" rtlCol="false" tIns="0" lIns="0" bIns="0" rIns="0">
            <a:spAutoFit/>
          </a:bodyPr>
          <a:lstStyle/>
          <a:p>
            <a:pPr algn="l">
              <a:lnSpc>
                <a:spcPts val="6680"/>
              </a:lnSpc>
            </a:pPr>
            <a:r>
              <a:rPr lang="en-US" b="true" sz="5758" spc="270">
                <a:solidFill>
                  <a:srgbClr val="0392BE"/>
                </a:solidFill>
                <a:latin typeface="League Spartan"/>
                <a:ea typeface="League Spartan"/>
                <a:cs typeface="League Spartan"/>
                <a:sym typeface="League Spartan"/>
              </a:rPr>
              <a:t>TOOLS USED</a:t>
            </a:r>
          </a:p>
        </p:txBody>
      </p:sp>
      <p:sp>
        <p:nvSpPr>
          <p:cNvPr name="TextBox 9" id="9"/>
          <p:cNvSpPr txBox="true"/>
          <p:nvPr/>
        </p:nvSpPr>
        <p:spPr>
          <a:xfrm rot="0">
            <a:off x="1214744" y="6802078"/>
            <a:ext cx="2112150" cy="382627"/>
          </a:xfrm>
          <a:prstGeom prst="rect">
            <a:avLst/>
          </a:prstGeom>
        </p:spPr>
        <p:txBody>
          <a:bodyPr anchor="t" rtlCol="false" tIns="0" lIns="0" bIns="0" rIns="0">
            <a:spAutoFit/>
          </a:bodyPr>
          <a:lstStyle/>
          <a:p>
            <a:pPr algn="ctr">
              <a:lnSpc>
                <a:spcPts val="3060"/>
              </a:lnSpc>
            </a:pPr>
            <a:r>
              <a:rPr lang="en-US" b="true" sz="2185">
                <a:solidFill>
                  <a:srgbClr val="FFFFFF"/>
                </a:solidFill>
                <a:latin typeface="Arimo Bold"/>
                <a:ea typeface="Arimo Bold"/>
                <a:cs typeface="Arimo Bold"/>
                <a:sym typeface="Arimo Bold"/>
              </a:rPr>
              <a:t>READ MORE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0" y="-212613"/>
            <a:ext cx="9377874" cy="10712225"/>
            <a:chOff x="0" y="0"/>
            <a:chExt cx="2469893" cy="2821327"/>
          </a:xfrm>
        </p:grpSpPr>
        <p:sp>
          <p:nvSpPr>
            <p:cNvPr name="Freeform 3" id="3"/>
            <p:cNvSpPr/>
            <p:nvPr/>
          </p:nvSpPr>
          <p:spPr>
            <a:xfrm flipH="false" flipV="false" rot="0">
              <a:off x="0" y="0"/>
              <a:ext cx="2469893" cy="2821327"/>
            </a:xfrm>
            <a:custGeom>
              <a:avLst/>
              <a:gdLst/>
              <a:ahLst/>
              <a:cxnLst/>
              <a:rect r="r" b="b" t="t" l="l"/>
              <a:pathLst>
                <a:path h="2821327" w="2469893">
                  <a:moveTo>
                    <a:pt x="0" y="0"/>
                  </a:moveTo>
                  <a:lnTo>
                    <a:pt x="2469893" y="0"/>
                  </a:lnTo>
                  <a:lnTo>
                    <a:pt x="2469893" y="2821327"/>
                  </a:lnTo>
                  <a:lnTo>
                    <a:pt x="0" y="2821327"/>
                  </a:lnTo>
                  <a:close/>
                </a:path>
              </a:pathLst>
            </a:custGeom>
            <a:solidFill>
              <a:srgbClr val="0392BE"/>
            </a:solidFill>
          </p:spPr>
        </p:sp>
        <p:sp>
          <p:nvSpPr>
            <p:cNvPr name="TextBox 4" id="4"/>
            <p:cNvSpPr txBox="true"/>
            <p:nvPr/>
          </p:nvSpPr>
          <p:spPr>
            <a:xfrm>
              <a:off x="0" y="-38100"/>
              <a:ext cx="2469893" cy="285942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323474" y="2804478"/>
            <a:ext cx="5873170" cy="2190115"/>
          </a:xfrm>
          <a:prstGeom prst="rect">
            <a:avLst/>
          </a:prstGeom>
        </p:spPr>
        <p:txBody>
          <a:bodyPr anchor="t" rtlCol="false" tIns="0" lIns="0" bIns="0" rIns="0">
            <a:spAutoFit/>
          </a:bodyPr>
          <a:lstStyle/>
          <a:p>
            <a:pPr algn="l">
              <a:lnSpc>
                <a:spcPts val="8480"/>
              </a:lnSpc>
            </a:pPr>
            <a:r>
              <a:rPr lang="en-US" b="true" sz="8000">
                <a:solidFill>
                  <a:srgbClr val="000000"/>
                </a:solidFill>
                <a:latin typeface="Montserrat Classic Bold"/>
                <a:ea typeface="Montserrat Classic Bold"/>
                <a:cs typeface="Montserrat Classic Bold"/>
                <a:sym typeface="Montserrat Classic Bold"/>
              </a:rPr>
              <a:t>LIST OF CONTENTS</a:t>
            </a:r>
          </a:p>
        </p:txBody>
      </p:sp>
      <p:sp>
        <p:nvSpPr>
          <p:cNvPr name="TextBox 6" id="6"/>
          <p:cNvSpPr txBox="true"/>
          <p:nvPr/>
        </p:nvSpPr>
        <p:spPr>
          <a:xfrm rot="0">
            <a:off x="11229714" y="6478281"/>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MODEL EVALUATION</a:t>
            </a:r>
          </a:p>
        </p:txBody>
      </p:sp>
      <p:sp>
        <p:nvSpPr>
          <p:cNvPr name="TextBox 7" id="7"/>
          <p:cNvSpPr txBox="true"/>
          <p:nvPr/>
        </p:nvSpPr>
        <p:spPr>
          <a:xfrm rot="0">
            <a:off x="9835687" y="6363981"/>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06</a:t>
            </a:r>
          </a:p>
        </p:txBody>
      </p:sp>
      <p:sp>
        <p:nvSpPr>
          <p:cNvPr name="TextBox 8" id="8"/>
          <p:cNvSpPr txBox="true"/>
          <p:nvPr/>
        </p:nvSpPr>
        <p:spPr>
          <a:xfrm rot="0">
            <a:off x="9835687" y="1295586"/>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01</a:t>
            </a:r>
          </a:p>
        </p:txBody>
      </p:sp>
      <p:sp>
        <p:nvSpPr>
          <p:cNvPr name="TextBox 9" id="9"/>
          <p:cNvSpPr txBox="true"/>
          <p:nvPr/>
        </p:nvSpPr>
        <p:spPr>
          <a:xfrm rot="0">
            <a:off x="11229714" y="1409886"/>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MACHINE LEARNING</a:t>
            </a:r>
          </a:p>
        </p:txBody>
      </p:sp>
      <p:sp>
        <p:nvSpPr>
          <p:cNvPr name="TextBox 10" id="10"/>
          <p:cNvSpPr txBox="true"/>
          <p:nvPr/>
        </p:nvSpPr>
        <p:spPr>
          <a:xfrm rot="0">
            <a:off x="9835687" y="2309265"/>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02</a:t>
            </a:r>
          </a:p>
        </p:txBody>
      </p:sp>
      <p:sp>
        <p:nvSpPr>
          <p:cNvPr name="TextBox 11" id="11"/>
          <p:cNvSpPr txBox="true"/>
          <p:nvPr/>
        </p:nvSpPr>
        <p:spPr>
          <a:xfrm rot="0">
            <a:off x="11229714" y="2423565"/>
            <a:ext cx="4226126" cy="742950"/>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RANDOM FOREST REGRESSION</a:t>
            </a:r>
          </a:p>
        </p:txBody>
      </p:sp>
      <p:sp>
        <p:nvSpPr>
          <p:cNvPr name="TextBox 12" id="12"/>
          <p:cNvSpPr txBox="true"/>
          <p:nvPr/>
        </p:nvSpPr>
        <p:spPr>
          <a:xfrm rot="0">
            <a:off x="9835687" y="3322944"/>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03</a:t>
            </a:r>
          </a:p>
        </p:txBody>
      </p:sp>
      <p:sp>
        <p:nvSpPr>
          <p:cNvPr name="TextBox 13" id="13"/>
          <p:cNvSpPr txBox="true"/>
          <p:nvPr/>
        </p:nvSpPr>
        <p:spPr>
          <a:xfrm rot="0">
            <a:off x="11229714" y="3437244"/>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DATASET</a:t>
            </a:r>
          </a:p>
        </p:txBody>
      </p:sp>
      <p:sp>
        <p:nvSpPr>
          <p:cNvPr name="TextBox 14" id="14"/>
          <p:cNvSpPr txBox="true"/>
          <p:nvPr/>
        </p:nvSpPr>
        <p:spPr>
          <a:xfrm rot="0">
            <a:off x="9835687" y="4336623"/>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04</a:t>
            </a:r>
          </a:p>
        </p:txBody>
      </p:sp>
      <p:sp>
        <p:nvSpPr>
          <p:cNvPr name="TextBox 15" id="15"/>
          <p:cNvSpPr txBox="true"/>
          <p:nvPr/>
        </p:nvSpPr>
        <p:spPr>
          <a:xfrm rot="0">
            <a:off x="11229714" y="4450923"/>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LIBRARY</a:t>
            </a:r>
          </a:p>
        </p:txBody>
      </p:sp>
      <p:sp>
        <p:nvSpPr>
          <p:cNvPr name="TextBox 16" id="16"/>
          <p:cNvSpPr txBox="true"/>
          <p:nvPr/>
        </p:nvSpPr>
        <p:spPr>
          <a:xfrm rot="0">
            <a:off x="9835687" y="5350302"/>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05</a:t>
            </a:r>
          </a:p>
        </p:txBody>
      </p:sp>
      <p:sp>
        <p:nvSpPr>
          <p:cNvPr name="TextBox 17" id="17"/>
          <p:cNvSpPr txBox="true"/>
          <p:nvPr/>
        </p:nvSpPr>
        <p:spPr>
          <a:xfrm rot="0">
            <a:off x="11229714" y="5464602"/>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EDA</a:t>
            </a:r>
          </a:p>
        </p:txBody>
      </p:sp>
      <p:sp>
        <p:nvSpPr>
          <p:cNvPr name="TextBox 18" id="18"/>
          <p:cNvSpPr txBox="true"/>
          <p:nvPr/>
        </p:nvSpPr>
        <p:spPr>
          <a:xfrm rot="0">
            <a:off x="11229714" y="7491960"/>
            <a:ext cx="4226126" cy="371475"/>
          </a:xfrm>
          <a:prstGeom prst="rect">
            <a:avLst/>
          </a:prstGeom>
        </p:spPr>
        <p:txBody>
          <a:bodyPr anchor="t" rtlCol="false" tIns="0" lIns="0" bIns="0" rIns="0">
            <a:spAutoFit/>
          </a:bodyPr>
          <a:lstStyle/>
          <a:p>
            <a:pPr algn="l">
              <a:lnSpc>
                <a:spcPts val="2999"/>
              </a:lnSpc>
            </a:pPr>
            <a:r>
              <a:rPr lang="en-US" b="true" sz="2499">
                <a:solidFill>
                  <a:srgbClr val="000000"/>
                </a:solidFill>
                <a:latin typeface="Montserrat Classic Bold"/>
                <a:ea typeface="Montserrat Classic Bold"/>
                <a:cs typeface="Montserrat Classic Bold"/>
                <a:sym typeface="Montserrat Classic Bold"/>
              </a:rPr>
              <a:t>PREDICTIONS</a:t>
            </a:r>
          </a:p>
        </p:txBody>
      </p:sp>
      <p:sp>
        <p:nvSpPr>
          <p:cNvPr name="TextBox 19" id="19"/>
          <p:cNvSpPr txBox="true"/>
          <p:nvPr/>
        </p:nvSpPr>
        <p:spPr>
          <a:xfrm rot="0">
            <a:off x="9835687" y="7377660"/>
            <a:ext cx="1394026" cy="600075"/>
          </a:xfrm>
          <a:prstGeom prst="rect">
            <a:avLst/>
          </a:prstGeom>
        </p:spPr>
        <p:txBody>
          <a:bodyPr anchor="t" rtlCol="false" tIns="0" lIns="0" bIns="0" rIns="0">
            <a:spAutoFit/>
          </a:bodyPr>
          <a:lstStyle/>
          <a:p>
            <a:pPr algn="ctr">
              <a:lnSpc>
                <a:spcPts val="4799"/>
              </a:lnSpc>
            </a:pPr>
            <a:r>
              <a:rPr lang="en-US" b="true" sz="3999">
                <a:solidFill>
                  <a:srgbClr val="000000"/>
                </a:solidFill>
                <a:latin typeface="Montserrat Classic Bold"/>
                <a:ea typeface="Montserrat Classic Bold"/>
                <a:cs typeface="Montserrat Classic Bold"/>
                <a:sym typeface="Montserrat Classic Bold"/>
              </a:rPr>
              <a:t>07</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39228" y="0"/>
            <a:ext cx="5748772" cy="10287000"/>
            <a:chOff x="0" y="0"/>
            <a:chExt cx="1069556" cy="1913890"/>
          </a:xfrm>
        </p:grpSpPr>
        <p:sp>
          <p:nvSpPr>
            <p:cNvPr name="Freeform 3" id="3"/>
            <p:cNvSpPr/>
            <p:nvPr/>
          </p:nvSpPr>
          <p:spPr>
            <a:xfrm flipH="false" flipV="false" rot="0">
              <a:off x="0" y="0"/>
              <a:ext cx="1069556" cy="1913890"/>
            </a:xfrm>
            <a:custGeom>
              <a:avLst/>
              <a:gdLst/>
              <a:ahLst/>
              <a:cxnLst/>
              <a:rect r="r" b="b" t="t" l="l"/>
              <a:pathLst>
                <a:path h="1913890" w="1069556">
                  <a:moveTo>
                    <a:pt x="0" y="0"/>
                  </a:moveTo>
                  <a:lnTo>
                    <a:pt x="1069556" y="0"/>
                  </a:lnTo>
                  <a:lnTo>
                    <a:pt x="1069556" y="1913890"/>
                  </a:lnTo>
                  <a:lnTo>
                    <a:pt x="0" y="1913890"/>
                  </a:lnTo>
                  <a:close/>
                </a:path>
              </a:pathLst>
            </a:custGeom>
            <a:solidFill>
              <a:srgbClr val="0392BE"/>
            </a:solidFill>
          </p:spPr>
        </p:sp>
      </p:grpSp>
      <p:grpSp>
        <p:nvGrpSpPr>
          <p:cNvPr name="Group 4" id="4"/>
          <p:cNvGrpSpPr/>
          <p:nvPr/>
        </p:nvGrpSpPr>
        <p:grpSpPr>
          <a:xfrm rot="0">
            <a:off x="1028700" y="1028700"/>
            <a:ext cx="1562949" cy="417760"/>
            <a:chOff x="0" y="0"/>
            <a:chExt cx="570168" cy="152400"/>
          </a:xfrm>
        </p:grpSpPr>
        <p:sp>
          <p:nvSpPr>
            <p:cNvPr name="Freeform 5" id="5"/>
            <p:cNvSpPr/>
            <p:nvPr/>
          </p:nvSpPr>
          <p:spPr>
            <a:xfrm flipH="false" flipV="false" rot="0">
              <a:off x="0" y="0"/>
              <a:ext cx="570168" cy="152400"/>
            </a:xfrm>
            <a:custGeom>
              <a:avLst/>
              <a:gdLst/>
              <a:ahLst/>
              <a:cxnLst/>
              <a:rect r="r" b="b" t="t" l="l"/>
              <a:pathLst>
                <a:path h="152400" w="570168">
                  <a:moveTo>
                    <a:pt x="0" y="0"/>
                  </a:moveTo>
                  <a:lnTo>
                    <a:pt x="570168" y="0"/>
                  </a:lnTo>
                  <a:lnTo>
                    <a:pt x="570168" y="152400"/>
                  </a:lnTo>
                  <a:lnTo>
                    <a:pt x="0" y="152400"/>
                  </a:lnTo>
                  <a:close/>
                </a:path>
              </a:pathLst>
            </a:custGeom>
            <a:solidFill>
              <a:srgbClr val="0392BE"/>
            </a:solidFill>
          </p:spPr>
        </p:sp>
      </p:grpSp>
      <p:sp>
        <p:nvSpPr>
          <p:cNvPr name="Freeform 6" id="6"/>
          <p:cNvSpPr/>
          <p:nvPr/>
        </p:nvSpPr>
        <p:spPr>
          <a:xfrm flipH="false" flipV="false" rot="0">
            <a:off x="8926649" y="2341501"/>
            <a:ext cx="8800822" cy="5977917"/>
          </a:xfrm>
          <a:custGeom>
            <a:avLst/>
            <a:gdLst/>
            <a:ahLst/>
            <a:cxnLst/>
            <a:rect r="r" b="b" t="t" l="l"/>
            <a:pathLst>
              <a:path h="5977917" w="8800822">
                <a:moveTo>
                  <a:pt x="0" y="0"/>
                </a:moveTo>
                <a:lnTo>
                  <a:pt x="8800822" y="0"/>
                </a:lnTo>
                <a:lnTo>
                  <a:pt x="8800822" y="5977917"/>
                </a:lnTo>
                <a:lnTo>
                  <a:pt x="0" y="5977917"/>
                </a:lnTo>
                <a:lnTo>
                  <a:pt x="0" y="0"/>
                </a:lnTo>
                <a:close/>
              </a:path>
            </a:pathLst>
          </a:custGeom>
          <a:blipFill>
            <a:blip r:embed="rId2"/>
            <a:stretch>
              <a:fillRect l="0" t="0" r="0" b="0"/>
            </a:stretch>
          </a:blipFill>
        </p:spPr>
      </p:sp>
      <p:sp>
        <p:nvSpPr>
          <p:cNvPr name="TextBox 7" id="7"/>
          <p:cNvSpPr txBox="true"/>
          <p:nvPr/>
        </p:nvSpPr>
        <p:spPr>
          <a:xfrm rot="0">
            <a:off x="1028700" y="2115215"/>
            <a:ext cx="5669840" cy="1091872"/>
          </a:xfrm>
          <a:prstGeom prst="rect">
            <a:avLst/>
          </a:prstGeom>
        </p:spPr>
        <p:txBody>
          <a:bodyPr anchor="t" rtlCol="false" tIns="0" lIns="0" bIns="0" rIns="0">
            <a:spAutoFit/>
          </a:bodyPr>
          <a:lstStyle/>
          <a:p>
            <a:pPr algn="l">
              <a:lnSpc>
                <a:spcPts val="8107"/>
              </a:lnSpc>
            </a:pPr>
            <a:r>
              <a:rPr lang="en-US" sz="8107" b="true">
                <a:solidFill>
                  <a:srgbClr val="0392BE"/>
                </a:solidFill>
                <a:latin typeface="League Spartan"/>
                <a:ea typeface="League Spartan"/>
                <a:cs typeface="League Spartan"/>
                <a:sym typeface="League Spartan"/>
              </a:rPr>
              <a:t>MACHINE</a:t>
            </a:r>
          </a:p>
          <a:p>
            <a:pPr algn="l">
              <a:lnSpc>
                <a:spcPts val="8107"/>
              </a:lnSpc>
            </a:pPr>
            <a:r>
              <a:rPr lang="en-US" b="true" sz="8107">
                <a:solidFill>
                  <a:srgbClr val="0392BE"/>
                </a:solidFill>
                <a:latin typeface="League Spartan"/>
                <a:ea typeface="League Spartan"/>
                <a:cs typeface="League Spartan"/>
                <a:sym typeface="League Spartan"/>
              </a:rPr>
              <a:t>LEARNING</a:t>
            </a:r>
          </a:p>
        </p:txBody>
      </p:sp>
      <p:sp>
        <p:nvSpPr>
          <p:cNvPr name="TextBox 8" id="8"/>
          <p:cNvSpPr txBox="true"/>
          <p:nvPr/>
        </p:nvSpPr>
        <p:spPr>
          <a:xfrm rot="0">
            <a:off x="1028700" y="4160923"/>
            <a:ext cx="6862658" cy="5296399"/>
          </a:xfrm>
          <a:prstGeom prst="rect">
            <a:avLst/>
          </a:prstGeom>
        </p:spPr>
        <p:txBody>
          <a:bodyPr anchor="t" rtlCol="false" tIns="0" lIns="0" bIns="0" rIns="0">
            <a:spAutoFit/>
          </a:bodyPr>
          <a:lstStyle/>
          <a:p>
            <a:pPr algn="just">
              <a:lnSpc>
                <a:spcPts val="3284"/>
              </a:lnSpc>
            </a:pPr>
            <a:r>
              <a:rPr lang="en-US" sz="2052">
                <a:solidFill>
                  <a:srgbClr val="000000"/>
                </a:solidFill>
                <a:latin typeface="Montserrat"/>
                <a:ea typeface="Montserrat"/>
                <a:cs typeface="Montserrat"/>
                <a:sym typeface="Montserrat"/>
              </a:rPr>
              <a:t>Machine Learning adalah cabang kecerdasan buatan (AI) yang memungkinkan sistem untuk belajar dari data tanpa diprogram secara eksplisit. Dengan menggunakan algoritma statistik dan komputasi, machine learning mengidentifikasi pola dalam data untuk membuat prediksi atau keputusan secara otomatis. Teknik ini digunakan dalam berbagai bidang, seperti prediksi harga, deteksi anomali, pengenalan wajah, dan rekomendasi produk, dengan model yang terus diperbaiki seiring bertambahnya data yang diproses.</a:t>
            </a:r>
          </a:p>
          <a:p>
            <a:pPr algn="just">
              <a:lnSpc>
                <a:spcPts val="3284"/>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915400" y="0"/>
            <a:ext cx="9372600" cy="10287000"/>
            <a:chOff x="0" y="0"/>
            <a:chExt cx="1743766" cy="1913890"/>
          </a:xfrm>
        </p:grpSpPr>
        <p:sp>
          <p:nvSpPr>
            <p:cNvPr name="Freeform 3" id="3"/>
            <p:cNvSpPr/>
            <p:nvPr/>
          </p:nvSpPr>
          <p:spPr>
            <a:xfrm flipH="false" flipV="false" rot="0">
              <a:off x="0" y="0"/>
              <a:ext cx="1743766" cy="1913890"/>
            </a:xfrm>
            <a:custGeom>
              <a:avLst/>
              <a:gdLst/>
              <a:ahLst/>
              <a:cxnLst/>
              <a:rect r="r" b="b" t="t" l="l"/>
              <a:pathLst>
                <a:path h="1913890" w="1743766">
                  <a:moveTo>
                    <a:pt x="0" y="0"/>
                  </a:moveTo>
                  <a:lnTo>
                    <a:pt x="1743766" y="0"/>
                  </a:lnTo>
                  <a:lnTo>
                    <a:pt x="1743766" y="1913890"/>
                  </a:lnTo>
                  <a:lnTo>
                    <a:pt x="0" y="1913890"/>
                  </a:lnTo>
                  <a:close/>
                </a:path>
              </a:pathLst>
            </a:custGeom>
            <a:solidFill>
              <a:srgbClr val="DDDDDD">
                <a:alpha val="17647"/>
              </a:srgbClr>
            </a:solidFill>
          </p:spPr>
        </p:sp>
      </p:grpSp>
      <p:sp>
        <p:nvSpPr>
          <p:cNvPr name="TextBox 4" id="4"/>
          <p:cNvSpPr txBox="true"/>
          <p:nvPr/>
        </p:nvSpPr>
        <p:spPr>
          <a:xfrm rot="0">
            <a:off x="1028700" y="2287857"/>
            <a:ext cx="7165279" cy="823002"/>
          </a:xfrm>
          <a:prstGeom prst="rect">
            <a:avLst/>
          </a:prstGeom>
        </p:spPr>
        <p:txBody>
          <a:bodyPr anchor="t" rtlCol="false" tIns="0" lIns="0" bIns="0" rIns="0">
            <a:spAutoFit/>
          </a:bodyPr>
          <a:lstStyle/>
          <a:p>
            <a:pPr algn="l">
              <a:lnSpc>
                <a:spcPts val="6151"/>
              </a:lnSpc>
            </a:pPr>
            <a:r>
              <a:rPr lang="en-US" b="true" sz="6151">
                <a:solidFill>
                  <a:srgbClr val="000000"/>
                </a:solidFill>
                <a:latin typeface="League Spartan"/>
                <a:ea typeface="League Spartan"/>
                <a:cs typeface="League Spartan"/>
                <a:sym typeface="League Spartan"/>
              </a:rPr>
              <a:t>RANDOM FOREST</a:t>
            </a:r>
          </a:p>
        </p:txBody>
      </p:sp>
      <p:sp>
        <p:nvSpPr>
          <p:cNvPr name="TextBox 5" id="5"/>
          <p:cNvSpPr txBox="true"/>
          <p:nvPr/>
        </p:nvSpPr>
        <p:spPr>
          <a:xfrm rot="0">
            <a:off x="1221754" y="3130416"/>
            <a:ext cx="6972225" cy="4337717"/>
          </a:xfrm>
          <a:prstGeom prst="rect">
            <a:avLst/>
          </a:prstGeom>
        </p:spPr>
        <p:txBody>
          <a:bodyPr anchor="t" rtlCol="false" tIns="0" lIns="0" bIns="0" rIns="0">
            <a:spAutoFit/>
          </a:bodyPr>
          <a:lstStyle/>
          <a:p>
            <a:pPr algn="just">
              <a:lnSpc>
                <a:spcPts val="2873"/>
              </a:lnSpc>
            </a:pPr>
            <a:r>
              <a:rPr lang="en-US" sz="1795">
                <a:solidFill>
                  <a:srgbClr val="000000"/>
                </a:solidFill>
                <a:latin typeface="Montserrat"/>
                <a:ea typeface="Montserrat"/>
                <a:cs typeface="Montserrat"/>
                <a:sym typeface="Montserrat"/>
              </a:rPr>
              <a:t>Random Forest adalah algoritma machine learning berbasis ensemble yang terdiri dari banyak decision tree untuk meningkatkan akurasi prediksi dan mengurangi overfitting. Dalam prosesnya, Random Forest membangun beberapa decision tree dari sampel acak dataset (bagging) dan menggabungkan hasil prediksi dari setiap pohon untuk mendapatkan keputusan akhir yang lebih stabil dan akurat. Algoritma ini dapat digunakan untuk tugas klasifikasi maupun regresi, serta dikenal karena ketahanannya terhadap outlier dan kemampuannya dalam menangani dataset dengan banyak fitur.</a:t>
            </a:r>
          </a:p>
          <a:p>
            <a:pPr algn="just">
              <a:lnSpc>
                <a:spcPts val="2873"/>
              </a:lnSpc>
            </a:pPr>
          </a:p>
        </p:txBody>
      </p:sp>
      <p:sp>
        <p:nvSpPr>
          <p:cNvPr name="TextBox 6" id="6"/>
          <p:cNvSpPr txBox="true"/>
          <p:nvPr/>
        </p:nvSpPr>
        <p:spPr>
          <a:xfrm rot="0">
            <a:off x="10522886" y="1848215"/>
            <a:ext cx="4485427" cy="564960"/>
          </a:xfrm>
          <a:prstGeom prst="rect">
            <a:avLst/>
          </a:prstGeom>
        </p:spPr>
        <p:txBody>
          <a:bodyPr anchor="t" rtlCol="false" tIns="0" lIns="0" bIns="0" rIns="0">
            <a:spAutoFit/>
          </a:bodyPr>
          <a:lstStyle/>
          <a:p>
            <a:pPr algn="l" marL="0" indent="0" lvl="1">
              <a:lnSpc>
                <a:spcPts val="4757"/>
              </a:lnSpc>
              <a:spcBef>
                <a:spcPct val="0"/>
              </a:spcBef>
            </a:pPr>
            <a:r>
              <a:rPr lang="en-US" b="true" sz="3171">
                <a:solidFill>
                  <a:srgbClr val="494949"/>
                </a:solidFill>
                <a:latin typeface="Garet Bold"/>
                <a:ea typeface="Garet Bold"/>
                <a:cs typeface="Garet Bold"/>
                <a:sym typeface="Garet Bold"/>
              </a:rPr>
              <a:t>Ensemble Learning </a:t>
            </a:r>
          </a:p>
        </p:txBody>
      </p:sp>
      <p:sp>
        <p:nvSpPr>
          <p:cNvPr name="TextBox 7" id="7"/>
          <p:cNvSpPr txBox="true"/>
          <p:nvPr/>
        </p:nvSpPr>
        <p:spPr>
          <a:xfrm rot="0">
            <a:off x="10522886" y="4477933"/>
            <a:ext cx="4485427" cy="564960"/>
          </a:xfrm>
          <a:prstGeom prst="rect">
            <a:avLst/>
          </a:prstGeom>
        </p:spPr>
        <p:txBody>
          <a:bodyPr anchor="t" rtlCol="false" tIns="0" lIns="0" bIns="0" rIns="0">
            <a:spAutoFit/>
          </a:bodyPr>
          <a:lstStyle/>
          <a:p>
            <a:pPr algn="l" marL="0" indent="0" lvl="1">
              <a:lnSpc>
                <a:spcPts val="4757"/>
              </a:lnSpc>
              <a:spcBef>
                <a:spcPct val="0"/>
              </a:spcBef>
            </a:pPr>
            <a:r>
              <a:rPr lang="en-US" b="true" sz="3171">
                <a:solidFill>
                  <a:srgbClr val="494949"/>
                </a:solidFill>
                <a:latin typeface="Garet Bold"/>
                <a:ea typeface="Garet Bold"/>
                <a:cs typeface="Garet Bold"/>
                <a:sym typeface="Garet Bold"/>
              </a:rPr>
              <a:t>Reduksi Overfitting</a:t>
            </a:r>
          </a:p>
        </p:txBody>
      </p:sp>
      <p:sp>
        <p:nvSpPr>
          <p:cNvPr name="TextBox 8" id="8"/>
          <p:cNvSpPr txBox="true"/>
          <p:nvPr/>
        </p:nvSpPr>
        <p:spPr>
          <a:xfrm rot="0">
            <a:off x="10522886" y="7142790"/>
            <a:ext cx="7436397" cy="564960"/>
          </a:xfrm>
          <a:prstGeom prst="rect">
            <a:avLst/>
          </a:prstGeom>
        </p:spPr>
        <p:txBody>
          <a:bodyPr anchor="t" rtlCol="false" tIns="0" lIns="0" bIns="0" rIns="0">
            <a:spAutoFit/>
          </a:bodyPr>
          <a:lstStyle/>
          <a:p>
            <a:pPr algn="l" marL="0" indent="0" lvl="1">
              <a:lnSpc>
                <a:spcPts val="4757"/>
              </a:lnSpc>
              <a:spcBef>
                <a:spcPct val="0"/>
              </a:spcBef>
            </a:pPr>
            <a:r>
              <a:rPr lang="en-US" b="true" sz="3171">
                <a:solidFill>
                  <a:srgbClr val="494949"/>
                </a:solidFill>
                <a:latin typeface="Garet Bold"/>
                <a:ea typeface="Garet Bold"/>
                <a:cs typeface="Garet Bold"/>
                <a:sym typeface="Garet Bold"/>
              </a:rPr>
              <a:t>Bagging (Bootstrap Aggregating)</a:t>
            </a:r>
          </a:p>
        </p:txBody>
      </p:sp>
      <p:grpSp>
        <p:nvGrpSpPr>
          <p:cNvPr name="Group 9" id="9"/>
          <p:cNvGrpSpPr/>
          <p:nvPr/>
        </p:nvGrpSpPr>
        <p:grpSpPr>
          <a:xfrm rot="0">
            <a:off x="10493451" y="1307299"/>
            <a:ext cx="1562949" cy="417760"/>
            <a:chOff x="0" y="0"/>
            <a:chExt cx="570168" cy="152400"/>
          </a:xfrm>
        </p:grpSpPr>
        <p:sp>
          <p:nvSpPr>
            <p:cNvPr name="Freeform 10" id="10"/>
            <p:cNvSpPr/>
            <p:nvPr/>
          </p:nvSpPr>
          <p:spPr>
            <a:xfrm flipH="false" flipV="false" rot="0">
              <a:off x="0" y="0"/>
              <a:ext cx="570168" cy="152400"/>
            </a:xfrm>
            <a:custGeom>
              <a:avLst/>
              <a:gdLst/>
              <a:ahLst/>
              <a:cxnLst/>
              <a:rect r="r" b="b" t="t" l="l"/>
              <a:pathLst>
                <a:path h="152400" w="570168">
                  <a:moveTo>
                    <a:pt x="0" y="0"/>
                  </a:moveTo>
                  <a:lnTo>
                    <a:pt x="570168" y="0"/>
                  </a:lnTo>
                  <a:lnTo>
                    <a:pt x="570168" y="152400"/>
                  </a:lnTo>
                  <a:lnTo>
                    <a:pt x="0" y="152400"/>
                  </a:lnTo>
                  <a:close/>
                </a:path>
              </a:pathLst>
            </a:custGeom>
            <a:solidFill>
              <a:srgbClr val="0392BE"/>
            </a:solidFill>
          </p:spPr>
        </p:sp>
      </p:grpSp>
      <p:grpSp>
        <p:nvGrpSpPr>
          <p:cNvPr name="Group 11" id="11"/>
          <p:cNvGrpSpPr/>
          <p:nvPr/>
        </p:nvGrpSpPr>
        <p:grpSpPr>
          <a:xfrm rot="0">
            <a:off x="10493451" y="3937018"/>
            <a:ext cx="1562949" cy="417760"/>
            <a:chOff x="0" y="0"/>
            <a:chExt cx="570168" cy="152400"/>
          </a:xfrm>
        </p:grpSpPr>
        <p:sp>
          <p:nvSpPr>
            <p:cNvPr name="Freeform 12" id="12"/>
            <p:cNvSpPr/>
            <p:nvPr/>
          </p:nvSpPr>
          <p:spPr>
            <a:xfrm flipH="false" flipV="false" rot="0">
              <a:off x="0" y="0"/>
              <a:ext cx="570168" cy="152400"/>
            </a:xfrm>
            <a:custGeom>
              <a:avLst/>
              <a:gdLst/>
              <a:ahLst/>
              <a:cxnLst/>
              <a:rect r="r" b="b" t="t" l="l"/>
              <a:pathLst>
                <a:path h="152400" w="570168">
                  <a:moveTo>
                    <a:pt x="0" y="0"/>
                  </a:moveTo>
                  <a:lnTo>
                    <a:pt x="570168" y="0"/>
                  </a:lnTo>
                  <a:lnTo>
                    <a:pt x="570168" y="152400"/>
                  </a:lnTo>
                  <a:lnTo>
                    <a:pt x="0" y="152400"/>
                  </a:lnTo>
                  <a:close/>
                </a:path>
              </a:pathLst>
            </a:custGeom>
            <a:solidFill>
              <a:srgbClr val="0392BE"/>
            </a:solidFill>
          </p:spPr>
        </p:sp>
      </p:grpSp>
      <p:grpSp>
        <p:nvGrpSpPr>
          <p:cNvPr name="Group 13" id="13"/>
          <p:cNvGrpSpPr/>
          <p:nvPr/>
        </p:nvGrpSpPr>
        <p:grpSpPr>
          <a:xfrm rot="0">
            <a:off x="10493451" y="6601875"/>
            <a:ext cx="1562949" cy="417760"/>
            <a:chOff x="0" y="0"/>
            <a:chExt cx="570168" cy="152400"/>
          </a:xfrm>
        </p:grpSpPr>
        <p:sp>
          <p:nvSpPr>
            <p:cNvPr name="Freeform 14" id="14"/>
            <p:cNvSpPr/>
            <p:nvPr/>
          </p:nvSpPr>
          <p:spPr>
            <a:xfrm flipH="false" flipV="false" rot="0">
              <a:off x="0" y="0"/>
              <a:ext cx="570168" cy="152400"/>
            </a:xfrm>
            <a:custGeom>
              <a:avLst/>
              <a:gdLst/>
              <a:ahLst/>
              <a:cxnLst/>
              <a:rect r="r" b="b" t="t" l="l"/>
              <a:pathLst>
                <a:path h="152400" w="570168">
                  <a:moveTo>
                    <a:pt x="0" y="0"/>
                  </a:moveTo>
                  <a:lnTo>
                    <a:pt x="570168" y="0"/>
                  </a:lnTo>
                  <a:lnTo>
                    <a:pt x="570168" y="152400"/>
                  </a:lnTo>
                  <a:lnTo>
                    <a:pt x="0" y="152400"/>
                  </a:lnTo>
                  <a:close/>
                </a:path>
              </a:pathLst>
            </a:custGeom>
            <a:solidFill>
              <a:srgbClr val="0392BE"/>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848" y="-288212"/>
            <a:ext cx="3086100" cy="10863423"/>
            <a:chOff x="0" y="0"/>
            <a:chExt cx="812800" cy="2861149"/>
          </a:xfrm>
        </p:grpSpPr>
        <p:sp>
          <p:nvSpPr>
            <p:cNvPr name="Freeform 3" id="3"/>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4" id="4"/>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3175209" y="-288212"/>
            <a:ext cx="3086100" cy="10863423"/>
            <a:chOff x="0" y="0"/>
            <a:chExt cx="812800" cy="2861149"/>
          </a:xfrm>
        </p:grpSpPr>
        <p:sp>
          <p:nvSpPr>
            <p:cNvPr name="Freeform 6" id="6"/>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7" id="7"/>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sp>
        <p:nvSpPr>
          <p:cNvPr name="TextBox 8" id="8"/>
          <p:cNvSpPr txBox="true"/>
          <p:nvPr/>
        </p:nvSpPr>
        <p:spPr>
          <a:xfrm rot="0">
            <a:off x="6958220" y="1430178"/>
            <a:ext cx="10514713"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DATASET</a:t>
            </a:r>
          </a:p>
        </p:txBody>
      </p:sp>
      <p:sp>
        <p:nvSpPr>
          <p:cNvPr name="TextBox 9" id="9"/>
          <p:cNvSpPr txBox="true"/>
          <p:nvPr/>
        </p:nvSpPr>
        <p:spPr>
          <a:xfrm rot="0">
            <a:off x="6958220" y="2665466"/>
            <a:ext cx="9783936" cy="4934451"/>
          </a:xfrm>
          <a:prstGeom prst="rect">
            <a:avLst/>
          </a:prstGeom>
        </p:spPr>
        <p:txBody>
          <a:bodyPr anchor="t" rtlCol="false" tIns="0" lIns="0" bIns="0" rIns="0">
            <a:spAutoFit/>
          </a:bodyPr>
          <a:lstStyle/>
          <a:p>
            <a:pPr algn="just" marL="529465" indent="-264732" lvl="1">
              <a:lnSpc>
                <a:spcPts val="3923"/>
              </a:lnSpc>
              <a:buFont typeface="Arial"/>
              <a:buChar char="•"/>
            </a:pPr>
            <a:r>
              <a:rPr lang="en-US" sz="2452">
                <a:solidFill>
                  <a:srgbClr val="000000"/>
                </a:solidFill>
                <a:latin typeface="Montserrat"/>
                <a:ea typeface="Montserrat"/>
                <a:cs typeface="Montserrat"/>
                <a:sym typeface="Montserrat"/>
              </a:rPr>
              <a:t>Sumber Dataset: Kaggle - Medical Cost Personal Dataset</a:t>
            </a:r>
          </a:p>
          <a:p>
            <a:pPr algn="just" marL="529465" indent="-264732" lvl="1">
              <a:lnSpc>
                <a:spcPts val="3923"/>
              </a:lnSpc>
              <a:buFont typeface="Arial"/>
              <a:buChar char="•"/>
            </a:pPr>
            <a:r>
              <a:rPr lang="en-US" sz="2452">
                <a:solidFill>
                  <a:srgbClr val="000000"/>
                </a:solidFill>
                <a:latin typeface="Montserrat"/>
                <a:ea typeface="Montserrat"/>
                <a:cs typeface="Montserrat"/>
                <a:sym typeface="Montserrat"/>
              </a:rPr>
              <a:t>Jumlah Data: 1.300+ sampel</a:t>
            </a:r>
          </a:p>
          <a:p>
            <a:pPr algn="just" marL="529465" indent="-264732" lvl="1">
              <a:lnSpc>
                <a:spcPts val="3923"/>
              </a:lnSpc>
              <a:buFont typeface="Arial"/>
              <a:buChar char="•"/>
            </a:pPr>
            <a:r>
              <a:rPr lang="en-US" sz="2452">
                <a:solidFill>
                  <a:srgbClr val="000000"/>
                </a:solidFill>
                <a:latin typeface="Montserrat"/>
                <a:ea typeface="Montserrat"/>
                <a:cs typeface="Montserrat"/>
                <a:sym typeface="Montserrat"/>
              </a:rPr>
              <a:t>Fitur Penting:</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age (usia pasien)</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bmi (indeks massa tubuh)</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children (jumlah anak yang ditanggung asuransi)</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smoker (status perokok)</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region (lokasi pasien)</a:t>
            </a:r>
          </a:p>
          <a:p>
            <a:pPr algn="just" marL="1058930" indent="-352977" lvl="2">
              <a:lnSpc>
                <a:spcPts val="3923"/>
              </a:lnSpc>
              <a:buFont typeface="Arial"/>
              <a:buChar char="⚬"/>
            </a:pPr>
            <a:r>
              <a:rPr lang="en-US" sz="2452">
                <a:solidFill>
                  <a:srgbClr val="000000"/>
                </a:solidFill>
                <a:latin typeface="Montserrat"/>
                <a:ea typeface="Montserrat"/>
                <a:cs typeface="Montserrat"/>
                <a:sym typeface="Montserrat"/>
              </a:rPr>
              <a:t>charges (biaya medis, target prediksi)</a:t>
            </a:r>
          </a:p>
          <a:p>
            <a:pPr algn="just">
              <a:lnSpc>
                <a:spcPts val="3923"/>
              </a:lnSpc>
            </a:pPr>
          </a:p>
        </p:txBody>
      </p:sp>
      <p:sp>
        <p:nvSpPr>
          <p:cNvPr name="Freeform 10" id="10"/>
          <p:cNvSpPr/>
          <p:nvPr/>
        </p:nvSpPr>
        <p:spPr>
          <a:xfrm flipH="false" flipV="false" rot="0">
            <a:off x="13880575" y="8104064"/>
            <a:ext cx="2536783" cy="1154236"/>
          </a:xfrm>
          <a:custGeom>
            <a:avLst/>
            <a:gdLst/>
            <a:ahLst/>
            <a:cxnLst/>
            <a:rect r="r" b="b" t="t" l="l"/>
            <a:pathLst>
              <a:path h="1154236" w="2536783">
                <a:moveTo>
                  <a:pt x="0" y="0"/>
                </a:moveTo>
                <a:lnTo>
                  <a:pt x="2536783" y="0"/>
                </a:lnTo>
                <a:lnTo>
                  <a:pt x="2536783" y="1154236"/>
                </a:lnTo>
                <a:lnTo>
                  <a:pt x="0" y="1154236"/>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2086" y="-288212"/>
            <a:ext cx="6671391" cy="10863423"/>
            <a:chOff x="0" y="0"/>
            <a:chExt cx="1757074" cy="2861149"/>
          </a:xfrm>
        </p:grpSpPr>
        <p:sp>
          <p:nvSpPr>
            <p:cNvPr name="Freeform 3" id="3"/>
            <p:cNvSpPr/>
            <p:nvPr/>
          </p:nvSpPr>
          <p:spPr>
            <a:xfrm flipH="false" flipV="false" rot="0">
              <a:off x="0" y="0"/>
              <a:ext cx="1757074" cy="2861149"/>
            </a:xfrm>
            <a:custGeom>
              <a:avLst/>
              <a:gdLst/>
              <a:ahLst/>
              <a:cxnLst/>
              <a:rect r="r" b="b" t="t" l="l"/>
              <a:pathLst>
                <a:path h="2861149" w="1757074">
                  <a:moveTo>
                    <a:pt x="0" y="0"/>
                  </a:moveTo>
                  <a:lnTo>
                    <a:pt x="1757074" y="0"/>
                  </a:lnTo>
                  <a:lnTo>
                    <a:pt x="1757074" y="2861149"/>
                  </a:lnTo>
                  <a:lnTo>
                    <a:pt x="0" y="2861149"/>
                  </a:lnTo>
                  <a:close/>
                </a:path>
              </a:pathLst>
            </a:custGeom>
            <a:solidFill>
              <a:srgbClr val="0392BE"/>
            </a:solidFill>
          </p:spPr>
        </p:sp>
        <p:sp>
          <p:nvSpPr>
            <p:cNvPr name="TextBox 4" id="4"/>
            <p:cNvSpPr txBox="true"/>
            <p:nvPr/>
          </p:nvSpPr>
          <p:spPr>
            <a:xfrm>
              <a:off x="0" y="0"/>
              <a:ext cx="1757074" cy="2861149"/>
            </a:xfrm>
            <a:prstGeom prst="rect">
              <a:avLst/>
            </a:prstGeom>
          </p:spPr>
          <p:txBody>
            <a:bodyPr anchor="ctr" rtlCol="false" tIns="50800" lIns="50800" bIns="50800" rIns="50800"/>
            <a:lstStyle/>
            <a:p>
              <a:pPr algn="ctr">
                <a:lnSpc>
                  <a:spcPts val="2999"/>
                </a:lnSpc>
              </a:pPr>
            </a:p>
          </p:txBody>
        </p:sp>
      </p:grpSp>
      <p:sp>
        <p:nvSpPr>
          <p:cNvPr name="Freeform 5" id="5"/>
          <p:cNvSpPr/>
          <p:nvPr/>
        </p:nvSpPr>
        <p:spPr>
          <a:xfrm flipH="false" flipV="false" rot="0">
            <a:off x="6744587" y="2697661"/>
            <a:ext cx="9266598" cy="1820225"/>
          </a:xfrm>
          <a:custGeom>
            <a:avLst/>
            <a:gdLst/>
            <a:ahLst/>
            <a:cxnLst/>
            <a:rect r="r" b="b" t="t" l="l"/>
            <a:pathLst>
              <a:path h="1820225" w="9266598">
                <a:moveTo>
                  <a:pt x="0" y="0"/>
                </a:moveTo>
                <a:lnTo>
                  <a:pt x="9266598" y="0"/>
                </a:lnTo>
                <a:lnTo>
                  <a:pt x="9266598" y="1820225"/>
                </a:lnTo>
                <a:lnTo>
                  <a:pt x="0" y="1820225"/>
                </a:lnTo>
                <a:lnTo>
                  <a:pt x="0" y="0"/>
                </a:lnTo>
                <a:close/>
              </a:path>
            </a:pathLst>
          </a:custGeom>
          <a:blipFill>
            <a:blip r:embed="rId2"/>
            <a:stretch>
              <a:fillRect l="-4284" t="-122348" r="-17672" b="-126892"/>
            </a:stretch>
          </a:blipFill>
        </p:spPr>
      </p:sp>
      <p:sp>
        <p:nvSpPr>
          <p:cNvPr name="TextBox 6" id="6"/>
          <p:cNvSpPr txBox="true"/>
          <p:nvPr/>
        </p:nvSpPr>
        <p:spPr>
          <a:xfrm rot="0">
            <a:off x="5696578" y="1198389"/>
            <a:ext cx="10514713"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LIBRARY</a:t>
            </a:r>
          </a:p>
        </p:txBody>
      </p:sp>
      <p:sp>
        <p:nvSpPr>
          <p:cNvPr name="TextBox 7" id="7"/>
          <p:cNvSpPr txBox="true"/>
          <p:nvPr/>
        </p:nvSpPr>
        <p:spPr>
          <a:xfrm rot="0">
            <a:off x="6465907" y="4735200"/>
            <a:ext cx="10376893" cy="4381539"/>
          </a:xfrm>
          <a:prstGeom prst="rect">
            <a:avLst/>
          </a:prstGeom>
        </p:spPr>
        <p:txBody>
          <a:bodyPr anchor="t" rtlCol="false" tIns="0" lIns="0" bIns="0" rIns="0">
            <a:spAutoFit/>
          </a:bodyPr>
          <a:lstStyle/>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pandas &amp; numpy → Manipulasi dan analisis data.</a:t>
            </a:r>
          </a:p>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seaborn &amp; matplotlib → Visualisasi data untuk EDA dan analisis fitur.</a:t>
            </a:r>
          </a:p>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sklearn.model_selection → Train-test split untuk membagi data sebelum pelatihan model.</a:t>
            </a:r>
          </a:p>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sklearn.preprocessing → One-Hot Encoding dan StandardScaler untuk menangani data kategorikal dan numerik.</a:t>
            </a:r>
          </a:p>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sklearn.ensemble.RandomForestRegressor → Model regresi berbasis Random Forest.</a:t>
            </a:r>
          </a:p>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sklearn.metrics → Evaluasi model menggunakan MAE, MSE, RMSE, dan R² Score</a:t>
            </a:r>
          </a:p>
          <a:p>
            <a:pPr algn="just">
              <a:lnSpc>
                <a:spcPts val="316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15576" y="-288212"/>
            <a:ext cx="3086100" cy="10863423"/>
            <a:chOff x="0" y="0"/>
            <a:chExt cx="812800" cy="2861149"/>
          </a:xfrm>
        </p:grpSpPr>
        <p:sp>
          <p:nvSpPr>
            <p:cNvPr name="Freeform 3" id="3"/>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4" id="4"/>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15732634" y="-288212"/>
            <a:ext cx="3086100" cy="10863423"/>
            <a:chOff x="0" y="0"/>
            <a:chExt cx="812800" cy="2861149"/>
          </a:xfrm>
        </p:grpSpPr>
        <p:sp>
          <p:nvSpPr>
            <p:cNvPr name="Freeform 6" id="6"/>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7" id="7"/>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sp>
        <p:nvSpPr>
          <p:cNvPr name="Freeform 8" id="8"/>
          <p:cNvSpPr/>
          <p:nvPr/>
        </p:nvSpPr>
        <p:spPr>
          <a:xfrm flipH="false" flipV="false" rot="0">
            <a:off x="1028700" y="1972276"/>
            <a:ext cx="6143605" cy="1105425"/>
          </a:xfrm>
          <a:custGeom>
            <a:avLst/>
            <a:gdLst/>
            <a:ahLst/>
            <a:cxnLst/>
            <a:rect r="r" b="b" t="t" l="l"/>
            <a:pathLst>
              <a:path h="1105425" w="6143605">
                <a:moveTo>
                  <a:pt x="0" y="0"/>
                </a:moveTo>
                <a:lnTo>
                  <a:pt x="6143605" y="0"/>
                </a:lnTo>
                <a:lnTo>
                  <a:pt x="6143605" y="1105425"/>
                </a:lnTo>
                <a:lnTo>
                  <a:pt x="0" y="1105425"/>
                </a:lnTo>
                <a:lnTo>
                  <a:pt x="0" y="0"/>
                </a:lnTo>
                <a:close/>
              </a:path>
            </a:pathLst>
          </a:custGeom>
          <a:blipFill>
            <a:blip r:embed="rId2"/>
            <a:stretch>
              <a:fillRect l="-18196" t="-280256" r="-266245" b="-821583"/>
            </a:stretch>
          </a:blipFill>
        </p:spPr>
      </p:sp>
      <p:sp>
        <p:nvSpPr>
          <p:cNvPr name="Freeform 9" id="9"/>
          <p:cNvSpPr/>
          <p:nvPr/>
        </p:nvSpPr>
        <p:spPr>
          <a:xfrm flipH="false" flipV="false" rot="0">
            <a:off x="12486956" y="878019"/>
            <a:ext cx="5231569" cy="3106244"/>
          </a:xfrm>
          <a:custGeom>
            <a:avLst/>
            <a:gdLst/>
            <a:ahLst/>
            <a:cxnLst/>
            <a:rect r="r" b="b" t="t" l="l"/>
            <a:pathLst>
              <a:path h="3106244" w="5231569">
                <a:moveTo>
                  <a:pt x="0" y="0"/>
                </a:moveTo>
                <a:lnTo>
                  <a:pt x="5231569" y="0"/>
                </a:lnTo>
                <a:lnTo>
                  <a:pt x="5231569" y="3106243"/>
                </a:lnTo>
                <a:lnTo>
                  <a:pt x="0" y="3106243"/>
                </a:lnTo>
                <a:lnTo>
                  <a:pt x="0" y="0"/>
                </a:lnTo>
                <a:close/>
              </a:path>
            </a:pathLst>
          </a:custGeom>
          <a:blipFill>
            <a:blip r:embed="rId3"/>
            <a:stretch>
              <a:fillRect l="0" t="0" r="0" b="0"/>
            </a:stretch>
          </a:blipFill>
        </p:spPr>
      </p:sp>
      <p:sp>
        <p:nvSpPr>
          <p:cNvPr name="Freeform 10" id="10"/>
          <p:cNvSpPr/>
          <p:nvPr/>
        </p:nvSpPr>
        <p:spPr>
          <a:xfrm flipH="false" flipV="false" rot="0">
            <a:off x="12486956" y="4013620"/>
            <a:ext cx="5231569" cy="5244680"/>
          </a:xfrm>
          <a:custGeom>
            <a:avLst/>
            <a:gdLst/>
            <a:ahLst/>
            <a:cxnLst/>
            <a:rect r="r" b="b" t="t" l="l"/>
            <a:pathLst>
              <a:path h="5244680" w="5231569">
                <a:moveTo>
                  <a:pt x="0" y="0"/>
                </a:moveTo>
                <a:lnTo>
                  <a:pt x="5231569" y="0"/>
                </a:lnTo>
                <a:lnTo>
                  <a:pt x="5231569" y="5244680"/>
                </a:lnTo>
                <a:lnTo>
                  <a:pt x="0" y="5244680"/>
                </a:lnTo>
                <a:lnTo>
                  <a:pt x="0" y="0"/>
                </a:lnTo>
                <a:close/>
              </a:path>
            </a:pathLst>
          </a:custGeom>
          <a:blipFill>
            <a:blip r:embed="rId4"/>
            <a:stretch>
              <a:fillRect l="0" t="0" r="0" b="0"/>
            </a:stretch>
          </a:blipFill>
        </p:spPr>
      </p:sp>
      <p:sp>
        <p:nvSpPr>
          <p:cNvPr name="Freeform 11" id="11"/>
          <p:cNvSpPr/>
          <p:nvPr/>
        </p:nvSpPr>
        <p:spPr>
          <a:xfrm flipH="false" flipV="false" rot="0">
            <a:off x="1028700" y="3171603"/>
            <a:ext cx="6143605" cy="984853"/>
          </a:xfrm>
          <a:custGeom>
            <a:avLst/>
            <a:gdLst/>
            <a:ahLst/>
            <a:cxnLst/>
            <a:rect r="r" b="b" t="t" l="l"/>
            <a:pathLst>
              <a:path h="984853" w="6143605">
                <a:moveTo>
                  <a:pt x="0" y="0"/>
                </a:moveTo>
                <a:lnTo>
                  <a:pt x="6143605" y="0"/>
                </a:lnTo>
                <a:lnTo>
                  <a:pt x="6143605" y="984853"/>
                </a:lnTo>
                <a:lnTo>
                  <a:pt x="0" y="984853"/>
                </a:lnTo>
                <a:lnTo>
                  <a:pt x="0" y="0"/>
                </a:lnTo>
                <a:close/>
              </a:path>
            </a:pathLst>
          </a:custGeom>
          <a:blipFill>
            <a:blip r:embed="rId5"/>
            <a:stretch>
              <a:fillRect l="-17346" t="-299685" r="-234128" b="-833014"/>
            </a:stretch>
          </a:blipFill>
        </p:spPr>
      </p:sp>
      <p:sp>
        <p:nvSpPr>
          <p:cNvPr name="TextBox 12" id="12"/>
          <p:cNvSpPr txBox="true"/>
          <p:nvPr/>
        </p:nvSpPr>
        <p:spPr>
          <a:xfrm rot="0">
            <a:off x="1028700" y="768278"/>
            <a:ext cx="10514713"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EDA</a:t>
            </a:r>
          </a:p>
        </p:txBody>
      </p:sp>
      <p:sp>
        <p:nvSpPr>
          <p:cNvPr name="TextBox 13" id="13"/>
          <p:cNvSpPr txBox="true"/>
          <p:nvPr/>
        </p:nvSpPr>
        <p:spPr>
          <a:xfrm rot="0">
            <a:off x="750021" y="4303328"/>
            <a:ext cx="10376893" cy="4381539"/>
          </a:xfrm>
          <a:prstGeom prst="rect">
            <a:avLst/>
          </a:prstGeom>
        </p:spPr>
        <p:txBody>
          <a:bodyPr anchor="t" rtlCol="false" tIns="0" lIns="0" bIns="0" rIns="0">
            <a:spAutoFit/>
          </a:bodyPr>
          <a:lstStyle/>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Exploratory Data Analysis (EDA) pada dataset Medical Cost Prediction dilakukan untuk memahami distribusi data, hubungan antar variabel, serta pola yang dapat memengaruhi biaya medis. Analisis ini mencakup pemeriksaan tipe data, deteksi nilai yang hilang, dan statistik ringkasan menggunakan .info() dan .describe(). Visualisasi seperti pairplot digunakan untuk melihat korelasi antar fitur, sementara one-hot encoding diterapkan pada variabel kategorikal seperti jenis kelamin, status perokok, dan wilayah. Selain itu, fitur numerik seperti usia, BMI, dan jumlah anak dinormalisasi menggunakan StandardScaler untuk memastikan skala yang seragam sebelum model machine learning diterapkan.</a:t>
            </a:r>
          </a:p>
          <a:p>
            <a:pPr algn="just">
              <a:lnSpc>
                <a:spcPts val="3166"/>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15576" y="-288212"/>
            <a:ext cx="3086100" cy="10863423"/>
            <a:chOff x="0" y="0"/>
            <a:chExt cx="812800" cy="2861149"/>
          </a:xfrm>
        </p:grpSpPr>
        <p:sp>
          <p:nvSpPr>
            <p:cNvPr name="Freeform 3" id="3"/>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4" id="4"/>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15732634" y="-288212"/>
            <a:ext cx="3086100" cy="10863423"/>
            <a:chOff x="0" y="0"/>
            <a:chExt cx="812800" cy="2861149"/>
          </a:xfrm>
        </p:grpSpPr>
        <p:sp>
          <p:nvSpPr>
            <p:cNvPr name="Freeform 6" id="6"/>
            <p:cNvSpPr/>
            <p:nvPr/>
          </p:nvSpPr>
          <p:spPr>
            <a:xfrm flipH="false" flipV="false" rot="0">
              <a:off x="0" y="0"/>
              <a:ext cx="812800" cy="2861149"/>
            </a:xfrm>
            <a:custGeom>
              <a:avLst/>
              <a:gdLst/>
              <a:ahLst/>
              <a:cxnLst/>
              <a:rect r="r" b="b" t="t" l="l"/>
              <a:pathLst>
                <a:path h="2861149" w="812800">
                  <a:moveTo>
                    <a:pt x="0" y="0"/>
                  </a:moveTo>
                  <a:lnTo>
                    <a:pt x="812800" y="0"/>
                  </a:lnTo>
                  <a:lnTo>
                    <a:pt x="812800" y="2861149"/>
                  </a:lnTo>
                  <a:lnTo>
                    <a:pt x="0" y="2861149"/>
                  </a:lnTo>
                  <a:close/>
                </a:path>
              </a:pathLst>
            </a:custGeom>
            <a:solidFill>
              <a:srgbClr val="0392BE"/>
            </a:solidFill>
          </p:spPr>
        </p:sp>
        <p:sp>
          <p:nvSpPr>
            <p:cNvPr name="TextBox 7" id="7"/>
            <p:cNvSpPr txBox="true"/>
            <p:nvPr/>
          </p:nvSpPr>
          <p:spPr>
            <a:xfrm>
              <a:off x="0" y="0"/>
              <a:ext cx="812800" cy="2861149"/>
            </a:xfrm>
            <a:prstGeom prst="rect">
              <a:avLst/>
            </a:prstGeom>
          </p:spPr>
          <p:txBody>
            <a:bodyPr anchor="ctr" rtlCol="false" tIns="50800" lIns="50800" bIns="50800" rIns="50800"/>
            <a:lstStyle/>
            <a:p>
              <a:pPr algn="ctr">
                <a:lnSpc>
                  <a:spcPts val="2999"/>
                </a:lnSpc>
              </a:pPr>
            </a:p>
          </p:txBody>
        </p:sp>
      </p:grpSp>
      <p:sp>
        <p:nvSpPr>
          <p:cNvPr name="Freeform 8" id="8"/>
          <p:cNvSpPr/>
          <p:nvPr/>
        </p:nvSpPr>
        <p:spPr>
          <a:xfrm flipH="false" flipV="false" rot="0">
            <a:off x="1076827" y="2431352"/>
            <a:ext cx="9839998" cy="2062532"/>
          </a:xfrm>
          <a:custGeom>
            <a:avLst/>
            <a:gdLst/>
            <a:ahLst/>
            <a:cxnLst/>
            <a:rect r="r" b="b" t="t" l="l"/>
            <a:pathLst>
              <a:path h="2062532" w="9839998">
                <a:moveTo>
                  <a:pt x="0" y="0"/>
                </a:moveTo>
                <a:lnTo>
                  <a:pt x="9839998" y="0"/>
                </a:lnTo>
                <a:lnTo>
                  <a:pt x="9839998" y="2062532"/>
                </a:lnTo>
                <a:lnTo>
                  <a:pt x="0" y="2062532"/>
                </a:lnTo>
                <a:lnTo>
                  <a:pt x="0" y="0"/>
                </a:lnTo>
                <a:close/>
              </a:path>
            </a:pathLst>
          </a:custGeom>
          <a:blipFill>
            <a:blip r:embed="rId2"/>
            <a:stretch>
              <a:fillRect l="-55631" t="-161978" r="-23309" b="-218226"/>
            </a:stretch>
          </a:blipFill>
        </p:spPr>
      </p:sp>
      <p:sp>
        <p:nvSpPr>
          <p:cNvPr name="Freeform 9" id="9"/>
          <p:cNvSpPr/>
          <p:nvPr/>
        </p:nvSpPr>
        <p:spPr>
          <a:xfrm flipH="false" flipV="false" rot="0">
            <a:off x="11593662" y="2958781"/>
            <a:ext cx="6265218" cy="3070207"/>
          </a:xfrm>
          <a:custGeom>
            <a:avLst/>
            <a:gdLst/>
            <a:ahLst/>
            <a:cxnLst/>
            <a:rect r="r" b="b" t="t" l="l"/>
            <a:pathLst>
              <a:path h="3070207" w="6265218">
                <a:moveTo>
                  <a:pt x="0" y="0"/>
                </a:moveTo>
                <a:lnTo>
                  <a:pt x="6265218" y="0"/>
                </a:lnTo>
                <a:lnTo>
                  <a:pt x="6265218" y="3070207"/>
                </a:lnTo>
                <a:lnTo>
                  <a:pt x="0" y="3070207"/>
                </a:lnTo>
                <a:lnTo>
                  <a:pt x="0" y="0"/>
                </a:lnTo>
                <a:close/>
              </a:path>
            </a:pathLst>
          </a:custGeom>
          <a:blipFill>
            <a:blip r:embed="rId3"/>
            <a:stretch>
              <a:fillRect l="-7328" t="-50203" r="-55928" b="-37194"/>
            </a:stretch>
          </a:blipFill>
        </p:spPr>
      </p:sp>
      <p:sp>
        <p:nvSpPr>
          <p:cNvPr name="TextBox 10" id="10"/>
          <p:cNvSpPr txBox="true"/>
          <p:nvPr/>
        </p:nvSpPr>
        <p:spPr>
          <a:xfrm rot="0">
            <a:off x="1028700" y="768278"/>
            <a:ext cx="12729926"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MODEL EVALUATION</a:t>
            </a:r>
          </a:p>
        </p:txBody>
      </p:sp>
      <p:sp>
        <p:nvSpPr>
          <p:cNvPr name="TextBox 11" id="11"/>
          <p:cNvSpPr txBox="true"/>
          <p:nvPr/>
        </p:nvSpPr>
        <p:spPr>
          <a:xfrm rot="0">
            <a:off x="777600" y="4876761"/>
            <a:ext cx="10376893" cy="4381539"/>
          </a:xfrm>
          <a:prstGeom prst="rect">
            <a:avLst/>
          </a:prstGeom>
        </p:spPr>
        <p:txBody>
          <a:bodyPr anchor="t" rtlCol="false" tIns="0" lIns="0" bIns="0" rIns="0">
            <a:spAutoFit/>
          </a:bodyPr>
          <a:lstStyle/>
          <a:p>
            <a:pPr algn="just" marL="427231" indent="-213616" lvl="1">
              <a:lnSpc>
                <a:spcPts val="3166"/>
              </a:lnSpc>
              <a:buFont typeface="Arial"/>
              <a:buChar char="•"/>
            </a:pPr>
            <a:r>
              <a:rPr lang="en-US" sz="1978">
                <a:solidFill>
                  <a:srgbClr val="000000"/>
                </a:solidFill>
                <a:latin typeface="Montserrat"/>
                <a:ea typeface="Montserrat"/>
                <a:cs typeface="Montserrat"/>
                <a:sym typeface="Montserrat"/>
              </a:rPr>
              <a:t>Exploratory Data Analysis (EDA) pada dataset Medical Cost Prediction dilakukan untuk memahami distribusi data, hubungan antar variabel, serta pola yang dapat memengaruhi biaya medis. Analisis ini mencakup pemeriksaan tipe data, deteksi nilai yang hilang, dan statistik ringkasan menggunakan .info() dan .describe(). Visualisasi seperti pairplot digunakan untuk melihat korelasi antar fitur, sementara one-hot encoding diterapkan pada variabel kategorikal seperti jenis kelamin, status perokok, dan wilayah. Selain itu, fitur numerik seperti usia, BMI, dan jumlah anak dinormalisasi menggunakan StandardScaler untuk memastikan skala yang seragam sebelum model machine learning diterapkan.</a:t>
            </a:r>
          </a:p>
          <a:p>
            <a:pPr algn="just">
              <a:lnSpc>
                <a:spcPts val="3166"/>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0633" y="7200900"/>
            <a:ext cx="4602954" cy="3086100"/>
            <a:chOff x="0" y="0"/>
            <a:chExt cx="1212301" cy="812800"/>
          </a:xfrm>
        </p:grpSpPr>
        <p:sp>
          <p:nvSpPr>
            <p:cNvPr name="Freeform 3" id="3"/>
            <p:cNvSpPr/>
            <p:nvPr/>
          </p:nvSpPr>
          <p:spPr>
            <a:xfrm flipH="false" flipV="false" rot="0">
              <a:off x="0" y="0"/>
              <a:ext cx="1212301" cy="812800"/>
            </a:xfrm>
            <a:custGeom>
              <a:avLst/>
              <a:gdLst/>
              <a:ahLst/>
              <a:cxnLst/>
              <a:rect r="r" b="b" t="t" l="l"/>
              <a:pathLst>
                <a:path h="812800" w="1212301">
                  <a:moveTo>
                    <a:pt x="0" y="0"/>
                  </a:moveTo>
                  <a:lnTo>
                    <a:pt x="1212301" y="0"/>
                  </a:lnTo>
                  <a:lnTo>
                    <a:pt x="1212301" y="812800"/>
                  </a:lnTo>
                  <a:lnTo>
                    <a:pt x="0" y="812800"/>
                  </a:lnTo>
                  <a:close/>
                </a:path>
              </a:pathLst>
            </a:custGeom>
            <a:solidFill>
              <a:srgbClr val="0392BE"/>
            </a:solidFill>
          </p:spPr>
        </p:sp>
        <p:sp>
          <p:nvSpPr>
            <p:cNvPr name="TextBox 4" id="4"/>
            <p:cNvSpPr txBox="true"/>
            <p:nvPr/>
          </p:nvSpPr>
          <p:spPr>
            <a:xfrm>
              <a:off x="0" y="0"/>
              <a:ext cx="1212301" cy="812800"/>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1503779" y="8128937"/>
            <a:ext cx="4602954" cy="3086100"/>
            <a:chOff x="0" y="0"/>
            <a:chExt cx="1212301" cy="812800"/>
          </a:xfrm>
        </p:grpSpPr>
        <p:sp>
          <p:nvSpPr>
            <p:cNvPr name="Freeform 6" id="6"/>
            <p:cNvSpPr/>
            <p:nvPr/>
          </p:nvSpPr>
          <p:spPr>
            <a:xfrm flipH="false" flipV="false" rot="0">
              <a:off x="0" y="0"/>
              <a:ext cx="1212301" cy="812800"/>
            </a:xfrm>
            <a:custGeom>
              <a:avLst/>
              <a:gdLst/>
              <a:ahLst/>
              <a:cxnLst/>
              <a:rect r="r" b="b" t="t" l="l"/>
              <a:pathLst>
                <a:path h="812800" w="1212301">
                  <a:moveTo>
                    <a:pt x="0" y="0"/>
                  </a:moveTo>
                  <a:lnTo>
                    <a:pt x="1212301" y="0"/>
                  </a:lnTo>
                  <a:lnTo>
                    <a:pt x="1212301" y="812800"/>
                  </a:lnTo>
                  <a:lnTo>
                    <a:pt x="0" y="812800"/>
                  </a:lnTo>
                  <a:close/>
                </a:path>
              </a:pathLst>
            </a:custGeom>
            <a:solidFill>
              <a:srgbClr val="38B6FF"/>
            </a:solidFill>
          </p:spPr>
        </p:sp>
        <p:sp>
          <p:nvSpPr>
            <p:cNvPr name="TextBox 7" id="7"/>
            <p:cNvSpPr txBox="true"/>
            <p:nvPr/>
          </p:nvSpPr>
          <p:spPr>
            <a:xfrm>
              <a:off x="0" y="0"/>
              <a:ext cx="1212301" cy="812800"/>
            </a:xfrm>
            <a:prstGeom prst="rect">
              <a:avLst/>
            </a:prstGeom>
          </p:spPr>
          <p:txBody>
            <a:bodyPr anchor="ctr" rtlCol="false" tIns="50800" lIns="50800" bIns="50800" rIns="50800"/>
            <a:lstStyle/>
            <a:p>
              <a:pPr algn="ctr">
                <a:lnSpc>
                  <a:spcPts val="2999"/>
                </a:lnSpc>
              </a:pPr>
            </a:p>
          </p:txBody>
        </p:sp>
      </p:grpSp>
      <p:sp>
        <p:nvSpPr>
          <p:cNvPr name="Freeform 8" id="8"/>
          <p:cNvSpPr/>
          <p:nvPr/>
        </p:nvSpPr>
        <p:spPr>
          <a:xfrm flipH="false" flipV="false" rot="0">
            <a:off x="9707269" y="1028700"/>
            <a:ext cx="6901023" cy="4364897"/>
          </a:xfrm>
          <a:custGeom>
            <a:avLst/>
            <a:gdLst/>
            <a:ahLst/>
            <a:cxnLst/>
            <a:rect r="r" b="b" t="t" l="l"/>
            <a:pathLst>
              <a:path h="4364897" w="6901023">
                <a:moveTo>
                  <a:pt x="0" y="0"/>
                </a:moveTo>
                <a:lnTo>
                  <a:pt x="6901024" y="0"/>
                </a:lnTo>
                <a:lnTo>
                  <a:pt x="6901024" y="4364897"/>
                </a:lnTo>
                <a:lnTo>
                  <a:pt x="0" y="4364897"/>
                </a:lnTo>
                <a:lnTo>
                  <a:pt x="0" y="0"/>
                </a:lnTo>
                <a:close/>
              </a:path>
            </a:pathLst>
          </a:custGeom>
          <a:blipFill>
            <a:blip r:embed="rId2"/>
            <a:stretch>
              <a:fillRect l="0" t="0" r="0" b="0"/>
            </a:stretch>
          </a:blipFill>
        </p:spPr>
      </p:sp>
      <p:sp>
        <p:nvSpPr>
          <p:cNvPr name="TextBox 9" id="9"/>
          <p:cNvSpPr txBox="true"/>
          <p:nvPr/>
        </p:nvSpPr>
        <p:spPr>
          <a:xfrm rot="0">
            <a:off x="1028700" y="768278"/>
            <a:ext cx="12729926"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PREDICTIONS</a:t>
            </a:r>
          </a:p>
        </p:txBody>
      </p:sp>
      <p:sp>
        <p:nvSpPr>
          <p:cNvPr name="TextBox 10" id="10"/>
          <p:cNvSpPr txBox="true"/>
          <p:nvPr/>
        </p:nvSpPr>
        <p:spPr>
          <a:xfrm rot="0">
            <a:off x="7393663" y="5690981"/>
            <a:ext cx="9617424" cy="3981006"/>
          </a:xfrm>
          <a:prstGeom prst="rect">
            <a:avLst/>
          </a:prstGeom>
        </p:spPr>
        <p:txBody>
          <a:bodyPr anchor="t" rtlCol="false" tIns="0" lIns="0" bIns="0" rIns="0">
            <a:spAutoFit/>
          </a:bodyPr>
          <a:lstStyle/>
          <a:p>
            <a:pPr algn="just">
              <a:lnSpc>
                <a:spcPts val="3166"/>
              </a:lnSpc>
            </a:pPr>
            <a:r>
              <a:rPr lang="en-US" sz="1978">
                <a:solidFill>
                  <a:srgbClr val="000000"/>
                </a:solidFill>
                <a:latin typeface="Montserrat"/>
                <a:ea typeface="Montserrat"/>
                <a:cs typeface="Montserrat"/>
                <a:sym typeface="Montserrat"/>
              </a:rPr>
              <a:t>Prediksi dalam konteks Medical Cost Prediction berarti menggunakan model machine learning untuk memperkirakan biaya medis seseorang berdasarkan fitur seperti usia, BMI, jumlah anak, status perokok, dan wilayah tempat tinggal. Model Random Forest Regressor yang telah dilatih pada data historis akan menerima input baru dan menghasilkan output berupa estimasi biaya medis. Setelah prediksi dilakukan, hasilnya dievaluasi menggunakan metrik seperti MAE, MSE, RMSE, dan R² Score untuk mengukur akurasi dan performa model. Semakin kecil error dan semakin tinggi nilai R², semakin baik model dalam memprediksi biaya medis.</a:t>
            </a:r>
          </a:p>
          <a:p>
            <a:pPr algn="just">
              <a:lnSpc>
                <a:spcPts val="316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0633" y="7200900"/>
            <a:ext cx="4602954" cy="3086100"/>
            <a:chOff x="0" y="0"/>
            <a:chExt cx="1212301" cy="812800"/>
          </a:xfrm>
        </p:grpSpPr>
        <p:sp>
          <p:nvSpPr>
            <p:cNvPr name="Freeform 3" id="3"/>
            <p:cNvSpPr/>
            <p:nvPr/>
          </p:nvSpPr>
          <p:spPr>
            <a:xfrm flipH="false" flipV="false" rot="0">
              <a:off x="0" y="0"/>
              <a:ext cx="1212301" cy="812800"/>
            </a:xfrm>
            <a:custGeom>
              <a:avLst/>
              <a:gdLst/>
              <a:ahLst/>
              <a:cxnLst/>
              <a:rect r="r" b="b" t="t" l="l"/>
              <a:pathLst>
                <a:path h="812800" w="1212301">
                  <a:moveTo>
                    <a:pt x="0" y="0"/>
                  </a:moveTo>
                  <a:lnTo>
                    <a:pt x="1212301" y="0"/>
                  </a:lnTo>
                  <a:lnTo>
                    <a:pt x="1212301" y="812800"/>
                  </a:lnTo>
                  <a:lnTo>
                    <a:pt x="0" y="812800"/>
                  </a:lnTo>
                  <a:close/>
                </a:path>
              </a:pathLst>
            </a:custGeom>
            <a:solidFill>
              <a:srgbClr val="0392BE"/>
            </a:solidFill>
          </p:spPr>
        </p:sp>
        <p:sp>
          <p:nvSpPr>
            <p:cNvPr name="TextBox 4" id="4"/>
            <p:cNvSpPr txBox="true"/>
            <p:nvPr/>
          </p:nvSpPr>
          <p:spPr>
            <a:xfrm>
              <a:off x="0" y="0"/>
              <a:ext cx="1212301" cy="812800"/>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1503779" y="8128937"/>
            <a:ext cx="4602954" cy="3086100"/>
            <a:chOff x="0" y="0"/>
            <a:chExt cx="1212301" cy="812800"/>
          </a:xfrm>
        </p:grpSpPr>
        <p:sp>
          <p:nvSpPr>
            <p:cNvPr name="Freeform 6" id="6"/>
            <p:cNvSpPr/>
            <p:nvPr/>
          </p:nvSpPr>
          <p:spPr>
            <a:xfrm flipH="false" flipV="false" rot="0">
              <a:off x="0" y="0"/>
              <a:ext cx="1212301" cy="812800"/>
            </a:xfrm>
            <a:custGeom>
              <a:avLst/>
              <a:gdLst/>
              <a:ahLst/>
              <a:cxnLst/>
              <a:rect r="r" b="b" t="t" l="l"/>
              <a:pathLst>
                <a:path h="812800" w="1212301">
                  <a:moveTo>
                    <a:pt x="0" y="0"/>
                  </a:moveTo>
                  <a:lnTo>
                    <a:pt x="1212301" y="0"/>
                  </a:lnTo>
                  <a:lnTo>
                    <a:pt x="1212301" y="812800"/>
                  </a:lnTo>
                  <a:lnTo>
                    <a:pt x="0" y="812800"/>
                  </a:lnTo>
                  <a:close/>
                </a:path>
              </a:pathLst>
            </a:custGeom>
            <a:solidFill>
              <a:srgbClr val="38B6FF"/>
            </a:solidFill>
          </p:spPr>
        </p:sp>
        <p:sp>
          <p:nvSpPr>
            <p:cNvPr name="TextBox 7" id="7"/>
            <p:cNvSpPr txBox="true"/>
            <p:nvPr/>
          </p:nvSpPr>
          <p:spPr>
            <a:xfrm>
              <a:off x="0" y="0"/>
              <a:ext cx="1212301" cy="812800"/>
            </a:xfrm>
            <a:prstGeom prst="rect">
              <a:avLst/>
            </a:prstGeom>
          </p:spPr>
          <p:txBody>
            <a:bodyPr anchor="ctr" rtlCol="false" tIns="50800" lIns="50800" bIns="50800" rIns="50800"/>
            <a:lstStyle/>
            <a:p>
              <a:pPr algn="ctr">
                <a:lnSpc>
                  <a:spcPts val="2999"/>
                </a:lnSpc>
              </a:pPr>
            </a:p>
          </p:txBody>
        </p:sp>
      </p:grpSp>
      <p:sp>
        <p:nvSpPr>
          <p:cNvPr name="Freeform 8" id="8"/>
          <p:cNvSpPr/>
          <p:nvPr/>
        </p:nvSpPr>
        <p:spPr>
          <a:xfrm flipH="false" flipV="false" rot="0">
            <a:off x="9707269" y="1028700"/>
            <a:ext cx="6901023" cy="4364897"/>
          </a:xfrm>
          <a:custGeom>
            <a:avLst/>
            <a:gdLst/>
            <a:ahLst/>
            <a:cxnLst/>
            <a:rect r="r" b="b" t="t" l="l"/>
            <a:pathLst>
              <a:path h="4364897" w="6901023">
                <a:moveTo>
                  <a:pt x="0" y="0"/>
                </a:moveTo>
                <a:lnTo>
                  <a:pt x="6901024" y="0"/>
                </a:lnTo>
                <a:lnTo>
                  <a:pt x="6901024" y="4364897"/>
                </a:lnTo>
                <a:lnTo>
                  <a:pt x="0" y="4364897"/>
                </a:lnTo>
                <a:lnTo>
                  <a:pt x="0" y="0"/>
                </a:lnTo>
                <a:close/>
              </a:path>
            </a:pathLst>
          </a:custGeom>
          <a:blipFill>
            <a:blip r:embed="rId2"/>
            <a:stretch>
              <a:fillRect l="0" t="0" r="0" b="0"/>
            </a:stretch>
          </a:blipFill>
        </p:spPr>
      </p:sp>
      <p:sp>
        <p:nvSpPr>
          <p:cNvPr name="TextBox 9" id="9"/>
          <p:cNvSpPr txBox="true"/>
          <p:nvPr/>
        </p:nvSpPr>
        <p:spPr>
          <a:xfrm rot="0">
            <a:off x="1028700" y="768278"/>
            <a:ext cx="12729926" cy="1203997"/>
          </a:xfrm>
          <a:prstGeom prst="rect">
            <a:avLst/>
          </a:prstGeom>
        </p:spPr>
        <p:txBody>
          <a:bodyPr anchor="t" rtlCol="false" tIns="0" lIns="0" bIns="0" rIns="0">
            <a:spAutoFit/>
          </a:bodyPr>
          <a:lstStyle/>
          <a:p>
            <a:pPr algn="l">
              <a:lnSpc>
                <a:spcPts val="9027"/>
              </a:lnSpc>
            </a:pPr>
            <a:r>
              <a:rPr lang="en-US" b="true" sz="9027">
                <a:solidFill>
                  <a:srgbClr val="000000"/>
                </a:solidFill>
                <a:latin typeface="League Spartan"/>
                <a:ea typeface="League Spartan"/>
                <a:cs typeface="League Spartan"/>
                <a:sym typeface="League Spartan"/>
              </a:rPr>
              <a:t>PREDICTIONS</a:t>
            </a:r>
          </a:p>
        </p:txBody>
      </p:sp>
      <p:sp>
        <p:nvSpPr>
          <p:cNvPr name="TextBox 10" id="10"/>
          <p:cNvSpPr txBox="true"/>
          <p:nvPr/>
        </p:nvSpPr>
        <p:spPr>
          <a:xfrm rot="0">
            <a:off x="7393663" y="5690981"/>
            <a:ext cx="9617424" cy="3981006"/>
          </a:xfrm>
          <a:prstGeom prst="rect">
            <a:avLst/>
          </a:prstGeom>
        </p:spPr>
        <p:txBody>
          <a:bodyPr anchor="t" rtlCol="false" tIns="0" lIns="0" bIns="0" rIns="0">
            <a:spAutoFit/>
          </a:bodyPr>
          <a:lstStyle/>
          <a:p>
            <a:pPr algn="just">
              <a:lnSpc>
                <a:spcPts val="3166"/>
              </a:lnSpc>
            </a:pPr>
            <a:r>
              <a:rPr lang="en-US" sz="1978">
                <a:solidFill>
                  <a:srgbClr val="000000"/>
                </a:solidFill>
                <a:latin typeface="Montserrat"/>
                <a:ea typeface="Montserrat"/>
                <a:cs typeface="Montserrat"/>
                <a:sym typeface="Montserrat"/>
              </a:rPr>
              <a:t>Prediksi dalam konteks Medical Cost Prediction berarti menggunakan model machine learning untuk memperkirakan biaya medis seseorang berdasarkan fitur seperti usia, BMI, jumlah anak, status perokok, dan wilayah tempat tinggal. Model Random Forest Regressor yang telah dilatih pada data historis akan menerima input baru dan menghasilkan output berupa estimasi biaya medis. Setelah prediksi dilakukan, hasilnya dievaluasi menggunakan metrik seperti MAE, MSE, RMSE, dan R² Score untuk mengukur akurasi dan performa model. Semakin kecil error dan semakin tinggi nilai R², semakin baik model dalam memprediksi biaya medis.</a:t>
            </a:r>
          </a:p>
          <a:p>
            <a:pPr algn="just">
              <a:lnSpc>
                <a:spcPts val="3166"/>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0458" y="-707404"/>
            <a:ext cx="3941054" cy="3830737"/>
            <a:chOff x="0" y="0"/>
            <a:chExt cx="1037973" cy="1008918"/>
          </a:xfrm>
        </p:grpSpPr>
        <p:sp>
          <p:nvSpPr>
            <p:cNvPr name="Freeform 3" id="3"/>
            <p:cNvSpPr/>
            <p:nvPr/>
          </p:nvSpPr>
          <p:spPr>
            <a:xfrm flipH="false" flipV="false" rot="0">
              <a:off x="0" y="0"/>
              <a:ext cx="1037973" cy="1008918"/>
            </a:xfrm>
            <a:custGeom>
              <a:avLst/>
              <a:gdLst/>
              <a:ahLst/>
              <a:cxnLst/>
              <a:rect r="r" b="b" t="t" l="l"/>
              <a:pathLst>
                <a:path h="1008918" w="1037973">
                  <a:moveTo>
                    <a:pt x="0" y="0"/>
                  </a:moveTo>
                  <a:lnTo>
                    <a:pt x="1037973" y="0"/>
                  </a:lnTo>
                  <a:lnTo>
                    <a:pt x="1037973" y="1008918"/>
                  </a:lnTo>
                  <a:lnTo>
                    <a:pt x="0" y="1008918"/>
                  </a:lnTo>
                  <a:close/>
                </a:path>
              </a:pathLst>
            </a:custGeom>
            <a:solidFill>
              <a:srgbClr val="0392BE"/>
            </a:solidFill>
          </p:spPr>
        </p:sp>
        <p:sp>
          <p:nvSpPr>
            <p:cNvPr name="TextBox 4" id="4"/>
            <p:cNvSpPr txBox="true"/>
            <p:nvPr/>
          </p:nvSpPr>
          <p:spPr>
            <a:xfrm>
              <a:off x="0" y="0"/>
              <a:ext cx="1037973" cy="1008918"/>
            </a:xfrm>
            <a:prstGeom prst="rect">
              <a:avLst/>
            </a:prstGeom>
          </p:spPr>
          <p:txBody>
            <a:bodyPr anchor="ctr" rtlCol="false" tIns="50800" lIns="50800" bIns="50800" rIns="50800"/>
            <a:lstStyle/>
            <a:p>
              <a:pPr algn="ctr">
                <a:lnSpc>
                  <a:spcPts val="2999"/>
                </a:lnSpc>
              </a:pPr>
            </a:p>
          </p:txBody>
        </p:sp>
      </p:grpSp>
      <p:grpSp>
        <p:nvGrpSpPr>
          <p:cNvPr name="Group 5" id="5"/>
          <p:cNvGrpSpPr/>
          <p:nvPr/>
        </p:nvGrpSpPr>
        <p:grpSpPr>
          <a:xfrm rot="0">
            <a:off x="16295412" y="-1121092"/>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38B6FF"/>
            </a:solidFill>
          </p:spPr>
        </p:sp>
        <p:sp>
          <p:nvSpPr>
            <p:cNvPr name="TextBox 7" id="7"/>
            <p:cNvSpPr txBox="true"/>
            <p:nvPr/>
          </p:nvSpPr>
          <p:spPr>
            <a:xfrm>
              <a:off x="0" y="0"/>
              <a:ext cx="812800" cy="812800"/>
            </a:xfrm>
            <a:prstGeom prst="rect">
              <a:avLst/>
            </a:prstGeom>
          </p:spPr>
          <p:txBody>
            <a:bodyPr anchor="ctr" rtlCol="false" tIns="50800" lIns="50800" bIns="50800" rIns="50800"/>
            <a:lstStyle/>
            <a:p>
              <a:pPr algn="ctr">
                <a:lnSpc>
                  <a:spcPts val="2999"/>
                </a:lnSpc>
              </a:pPr>
            </a:p>
          </p:txBody>
        </p:sp>
      </p:grpSp>
      <p:grpSp>
        <p:nvGrpSpPr>
          <p:cNvPr name="Group 8" id="8"/>
          <p:cNvGrpSpPr/>
          <p:nvPr/>
        </p:nvGrpSpPr>
        <p:grpSpPr>
          <a:xfrm rot="0">
            <a:off x="13350037" y="5819203"/>
            <a:ext cx="5292433" cy="4906325"/>
            <a:chOff x="0" y="0"/>
            <a:chExt cx="1393892" cy="1292201"/>
          </a:xfrm>
        </p:grpSpPr>
        <p:sp>
          <p:nvSpPr>
            <p:cNvPr name="Freeform 9" id="9"/>
            <p:cNvSpPr/>
            <p:nvPr/>
          </p:nvSpPr>
          <p:spPr>
            <a:xfrm flipH="false" flipV="false" rot="0">
              <a:off x="0" y="0"/>
              <a:ext cx="1393892" cy="1292201"/>
            </a:xfrm>
            <a:custGeom>
              <a:avLst/>
              <a:gdLst/>
              <a:ahLst/>
              <a:cxnLst/>
              <a:rect r="r" b="b" t="t" l="l"/>
              <a:pathLst>
                <a:path h="1292201" w="1393892">
                  <a:moveTo>
                    <a:pt x="0" y="0"/>
                  </a:moveTo>
                  <a:lnTo>
                    <a:pt x="1393892" y="0"/>
                  </a:lnTo>
                  <a:lnTo>
                    <a:pt x="1393892" y="1292201"/>
                  </a:lnTo>
                  <a:lnTo>
                    <a:pt x="0" y="1292201"/>
                  </a:lnTo>
                  <a:close/>
                </a:path>
              </a:pathLst>
            </a:custGeom>
            <a:solidFill>
              <a:srgbClr val="0392BE"/>
            </a:solidFill>
          </p:spPr>
        </p:sp>
        <p:sp>
          <p:nvSpPr>
            <p:cNvPr name="TextBox 10" id="10"/>
            <p:cNvSpPr txBox="true"/>
            <p:nvPr/>
          </p:nvSpPr>
          <p:spPr>
            <a:xfrm>
              <a:off x="0" y="0"/>
              <a:ext cx="1393892" cy="1292201"/>
            </a:xfrm>
            <a:prstGeom prst="rect">
              <a:avLst/>
            </a:prstGeom>
          </p:spPr>
          <p:txBody>
            <a:bodyPr anchor="ctr" rtlCol="false" tIns="50800" lIns="50800" bIns="50800" rIns="50800"/>
            <a:lstStyle/>
            <a:p>
              <a:pPr algn="ctr">
                <a:lnSpc>
                  <a:spcPts val="2999"/>
                </a:lnSpc>
              </a:pPr>
            </a:p>
          </p:txBody>
        </p:sp>
      </p:grpSp>
      <p:grpSp>
        <p:nvGrpSpPr>
          <p:cNvPr name="Group 11" id="11"/>
          <p:cNvGrpSpPr/>
          <p:nvPr/>
        </p:nvGrpSpPr>
        <p:grpSpPr>
          <a:xfrm rot="0">
            <a:off x="15611529" y="7722165"/>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38B6FF"/>
            </a:solidFill>
          </p:spPr>
        </p:sp>
        <p:sp>
          <p:nvSpPr>
            <p:cNvPr name="TextBox 13" id="13"/>
            <p:cNvSpPr txBox="true"/>
            <p:nvPr/>
          </p:nvSpPr>
          <p:spPr>
            <a:xfrm>
              <a:off x="0" y="0"/>
              <a:ext cx="812800" cy="812800"/>
            </a:xfrm>
            <a:prstGeom prst="rect">
              <a:avLst/>
            </a:prstGeom>
          </p:spPr>
          <p:txBody>
            <a:bodyPr anchor="ctr" rtlCol="false" tIns="50800" lIns="50800" bIns="50800" rIns="50800"/>
            <a:lstStyle/>
            <a:p>
              <a:pPr algn="ctr">
                <a:lnSpc>
                  <a:spcPts val="2999"/>
                </a:lnSpc>
              </a:pPr>
            </a:p>
          </p:txBody>
        </p:sp>
      </p:grpSp>
      <p:sp>
        <p:nvSpPr>
          <p:cNvPr name="Freeform 14" id="14"/>
          <p:cNvSpPr/>
          <p:nvPr/>
        </p:nvSpPr>
        <p:spPr>
          <a:xfrm flipH="false" flipV="false" rot="0">
            <a:off x="3480424" y="5520963"/>
            <a:ext cx="558693" cy="558693"/>
          </a:xfrm>
          <a:custGeom>
            <a:avLst/>
            <a:gdLst/>
            <a:ahLst/>
            <a:cxnLst/>
            <a:rect r="r" b="b" t="t" l="l"/>
            <a:pathLst>
              <a:path h="558693" w="558693">
                <a:moveTo>
                  <a:pt x="0" y="0"/>
                </a:moveTo>
                <a:lnTo>
                  <a:pt x="558693" y="0"/>
                </a:lnTo>
                <a:lnTo>
                  <a:pt x="558693" y="558693"/>
                </a:lnTo>
                <a:lnTo>
                  <a:pt x="0" y="558693"/>
                </a:lnTo>
                <a:lnTo>
                  <a:pt x="0" y="0"/>
                </a:lnTo>
                <a:close/>
              </a:path>
            </a:pathLst>
          </a:custGeom>
          <a:blipFill>
            <a:blip r:embed="rId2"/>
            <a:stretch>
              <a:fillRect l="0" t="0" r="0" b="0"/>
            </a:stretch>
          </a:blipFill>
        </p:spPr>
      </p:sp>
      <p:sp>
        <p:nvSpPr>
          <p:cNvPr name="Freeform 15" id="15"/>
          <p:cNvSpPr/>
          <p:nvPr/>
        </p:nvSpPr>
        <p:spPr>
          <a:xfrm flipH="false" flipV="false" rot="0">
            <a:off x="3406695" y="6377896"/>
            <a:ext cx="706151" cy="706151"/>
          </a:xfrm>
          <a:custGeom>
            <a:avLst/>
            <a:gdLst/>
            <a:ahLst/>
            <a:cxnLst/>
            <a:rect r="r" b="b" t="t" l="l"/>
            <a:pathLst>
              <a:path h="706151" w="706151">
                <a:moveTo>
                  <a:pt x="0" y="0"/>
                </a:moveTo>
                <a:lnTo>
                  <a:pt x="706151" y="0"/>
                </a:lnTo>
                <a:lnTo>
                  <a:pt x="706151" y="706151"/>
                </a:lnTo>
                <a:lnTo>
                  <a:pt x="0" y="706151"/>
                </a:lnTo>
                <a:lnTo>
                  <a:pt x="0" y="0"/>
                </a:lnTo>
                <a:close/>
              </a:path>
            </a:pathLst>
          </a:custGeom>
          <a:blipFill>
            <a:blip r:embed="rId3"/>
            <a:stretch>
              <a:fillRect l="0" t="0" r="0" b="0"/>
            </a:stretch>
          </a:blipFill>
        </p:spPr>
      </p:sp>
      <p:sp>
        <p:nvSpPr>
          <p:cNvPr name="Freeform 16" id="16"/>
          <p:cNvSpPr/>
          <p:nvPr/>
        </p:nvSpPr>
        <p:spPr>
          <a:xfrm flipH="false" flipV="false" rot="0">
            <a:off x="3480424" y="7379322"/>
            <a:ext cx="632422" cy="451894"/>
          </a:xfrm>
          <a:custGeom>
            <a:avLst/>
            <a:gdLst/>
            <a:ahLst/>
            <a:cxnLst/>
            <a:rect r="r" b="b" t="t" l="l"/>
            <a:pathLst>
              <a:path h="451894" w="632422">
                <a:moveTo>
                  <a:pt x="0" y="0"/>
                </a:moveTo>
                <a:lnTo>
                  <a:pt x="632422" y="0"/>
                </a:lnTo>
                <a:lnTo>
                  <a:pt x="632422" y="451894"/>
                </a:lnTo>
                <a:lnTo>
                  <a:pt x="0" y="451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2018729" y="4018002"/>
            <a:ext cx="13421730" cy="1125498"/>
          </a:xfrm>
          <a:prstGeom prst="rect">
            <a:avLst/>
          </a:prstGeom>
        </p:spPr>
        <p:txBody>
          <a:bodyPr anchor="t" rtlCol="false" tIns="0" lIns="0" bIns="0" rIns="0">
            <a:spAutoFit/>
          </a:bodyPr>
          <a:lstStyle/>
          <a:p>
            <a:pPr algn="ctr">
              <a:lnSpc>
                <a:spcPts val="8404"/>
              </a:lnSpc>
            </a:pPr>
            <a:r>
              <a:rPr lang="en-US" b="true" sz="8404">
                <a:solidFill>
                  <a:srgbClr val="000000"/>
                </a:solidFill>
                <a:latin typeface="League Spartan"/>
                <a:ea typeface="League Spartan"/>
                <a:cs typeface="League Spartan"/>
                <a:sym typeface="League Spartan"/>
              </a:rPr>
              <a:t>THANK YOU!</a:t>
            </a:r>
          </a:p>
        </p:txBody>
      </p:sp>
      <p:sp>
        <p:nvSpPr>
          <p:cNvPr name="TextBox 18" id="18"/>
          <p:cNvSpPr txBox="true"/>
          <p:nvPr/>
        </p:nvSpPr>
        <p:spPr>
          <a:xfrm rot="0">
            <a:off x="4545041" y="5581816"/>
            <a:ext cx="9197918" cy="497840"/>
          </a:xfrm>
          <a:prstGeom prst="rect">
            <a:avLst/>
          </a:prstGeom>
        </p:spPr>
        <p:txBody>
          <a:bodyPr anchor="t" rtlCol="false" tIns="0" lIns="0" bIns="0" rIns="0">
            <a:spAutoFit/>
          </a:bodyPr>
          <a:lstStyle/>
          <a:p>
            <a:pPr algn="l">
              <a:lnSpc>
                <a:spcPts val="4060"/>
              </a:lnSpc>
            </a:pPr>
            <a:r>
              <a:rPr lang="en-US" sz="2900">
                <a:solidFill>
                  <a:srgbClr val="000000"/>
                </a:solidFill>
                <a:latin typeface="Open Sans"/>
                <a:ea typeface="Open Sans"/>
                <a:cs typeface="Open Sans"/>
                <a:sym typeface="Open Sans"/>
              </a:rPr>
              <a:t>www.linkedin.com/in/dewiyuliana1507</a:t>
            </a:r>
          </a:p>
        </p:txBody>
      </p:sp>
      <p:sp>
        <p:nvSpPr>
          <p:cNvPr name="TextBox 19" id="19"/>
          <p:cNvSpPr txBox="true"/>
          <p:nvPr/>
        </p:nvSpPr>
        <p:spPr>
          <a:xfrm rot="0">
            <a:off x="4545041" y="6453476"/>
            <a:ext cx="9197918" cy="497840"/>
          </a:xfrm>
          <a:prstGeom prst="rect">
            <a:avLst/>
          </a:prstGeom>
        </p:spPr>
        <p:txBody>
          <a:bodyPr anchor="t" rtlCol="false" tIns="0" lIns="0" bIns="0" rIns="0">
            <a:spAutoFit/>
          </a:bodyPr>
          <a:lstStyle/>
          <a:p>
            <a:pPr algn="l">
              <a:lnSpc>
                <a:spcPts val="4060"/>
              </a:lnSpc>
            </a:pPr>
            <a:r>
              <a:rPr lang="en-US" sz="2900">
                <a:solidFill>
                  <a:srgbClr val="000000"/>
                </a:solidFill>
                <a:latin typeface="Open Sans"/>
                <a:ea typeface="Open Sans"/>
                <a:cs typeface="Open Sans"/>
                <a:sym typeface="Open Sans"/>
              </a:rPr>
              <a:t>https://github.com/dewiyulianaa</a:t>
            </a:r>
          </a:p>
        </p:txBody>
      </p:sp>
      <p:sp>
        <p:nvSpPr>
          <p:cNvPr name="TextBox 20" id="20"/>
          <p:cNvSpPr txBox="true"/>
          <p:nvPr/>
        </p:nvSpPr>
        <p:spPr>
          <a:xfrm rot="0">
            <a:off x="4545041" y="7333376"/>
            <a:ext cx="9197918" cy="497840"/>
          </a:xfrm>
          <a:prstGeom prst="rect">
            <a:avLst/>
          </a:prstGeom>
        </p:spPr>
        <p:txBody>
          <a:bodyPr anchor="t" rtlCol="false" tIns="0" lIns="0" bIns="0" rIns="0">
            <a:spAutoFit/>
          </a:bodyPr>
          <a:lstStyle/>
          <a:p>
            <a:pPr algn="l">
              <a:lnSpc>
                <a:spcPts val="4060"/>
              </a:lnSpc>
            </a:pPr>
            <a:r>
              <a:rPr lang="en-US" sz="2900">
                <a:solidFill>
                  <a:srgbClr val="000000"/>
                </a:solidFill>
                <a:latin typeface="Open Sans"/>
                <a:ea typeface="Open Sans"/>
                <a:cs typeface="Open Sans"/>
                <a:sym typeface="Open Sans"/>
              </a:rPr>
              <a:t>dewiyulianaa938@gmail.com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DAGe0YecWg0</dc:identifier>
  <dcterms:modified xsi:type="dcterms:W3CDTF">2011-08-01T06:04:30Z</dcterms:modified>
  <cp:revision>1</cp:revision>
  <dc:title>Medical Cost Prediction menggunakan Random Forest Regression</dc:title>
</cp:coreProperties>
</file>